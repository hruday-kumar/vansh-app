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8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497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280160"/>
            <a:ext cx="9601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0" b="0">
                <a:solidFill>
                  <a:srgbClr val="C49734"/>
                </a:solidFill>
              </a:rPr>
              <a:t>🪷</a:t>
            </a:r>
          </a:p>
          <a:p>
            <a:pPr algn="ctr"/>
            <a:r>
              <a:rPr sz="5400" b="1">
                <a:solidFill>
                  <a:srgbClr val="FFFFFF"/>
                </a:solidFill>
              </a:rPr>
              <a:t>VANSH  (वंश)</a:t>
            </a:r>
          </a:p>
          <a:p>
            <a:pPr algn="ctr"/>
            <a:r>
              <a:rPr sz="1200" b="0">
                <a:solidFill>
                  <a:srgbClr val="FFFFFF"/>
                </a:solidFill>
              </a:rPr>
              <a:t/>
            </a:r>
          </a:p>
          <a:p>
            <a:pPr algn="ctr"/>
            <a:r>
              <a:rPr sz="2400" b="0">
                <a:solidFill>
                  <a:srgbClr val="C49734"/>
                </a:solidFill>
              </a:rPr>
              <a:t>Preserving Family Legacies Across Generations</a:t>
            </a:r>
          </a:p>
          <a:p>
            <a:pPr algn="ctr"/>
            <a:r>
              <a:rPr sz="1000" b="0">
                <a:solidFill>
                  <a:srgbClr val="FFFFFF"/>
                </a:solidFill>
              </a:rPr>
              <a:t/>
            </a:r>
          </a:p>
          <a:p>
            <a:pPr algn="ctr"/>
            <a:r>
              <a:rPr sz="1800" b="0">
                <a:solidFill>
                  <a:srgbClr val="C8C3B9"/>
                </a:solidFill>
              </a:rPr>
              <a:t>A mobile-first platform to document, share, and preserve</a:t>
            </a:r>
          </a:p>
          <a:p>
            <a:pPr algn="ctr"/>
            <a:r>
              <a:rPr sz="1800" b="0">
                <a:solidFill>
                  <a:srgbClr val="C8C3B9"/>
                </a:solidFill>
              </a:rPr>
              <a:t>your family's stories, memories, traditions, and wisdom forever.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846320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6E6B65"/>
                </a:solidFill>
              </a:rPr>
              <a:t>React Native  •  TypeScript  •  Node.js/Express  •  MySQL  •  Gemini AI  •  Firebase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8C6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6291072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POC Presentation  •  February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6291072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>
                <a:solidFill>
                  <a:srgbClr val="FFFFFF"/>
                </a:solidFill>
              </a:rPr>
              <a:t>Version 2.0  •  MIT License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E6B65"/>
                </a:solidFill>
              </a:rPr>
              <a:t>1/15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45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Why families are losing their heritage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6858000" cy="1645920"/>
          </a:xfrm>
          <a:prstGeom prst="roundRect">
            <a:avLst/>
          </a:prstGeom>
          <a:solidFill>
            <a:srgbClr val="FFFCF5"/>
          </a:solidFill>
          <a:ln w="12700">
            <a:solidFill>
              <a:srgbClr val="EBE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73152" cy="1645920"/>
          </a:xfrm>
          <a:prstGeom prst="rect">
            <a:avLst/>
          </a:prstGeom>
          <a:solidFill>
            <a:srgbClr val="C45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63040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202124"/>
                </a:solidFill>
              </a:rPr>
              <a:t>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6035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02124"/>
                </a:solidFill>
              </a:rPr>
              <a:t>Digital Disconnect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783080"/>
            <a:ext cx="603504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E6B65"/>
                </a:solidFill>
              </a:rPr>
              <a:t>Younger generations are losing connection with family elders. Nuclear family trend means stories, recipes, and traditions are not being passed down.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6858000" cy="1645920"/>
          </a:xfrm>
          <a:prstGeom prst="roundRect">
            <a:avLst/>
          </a:prstGeom>
          <a:solidFill>
            <a:srgbClr val="FFFCF5"/>
          </a:solidFill>
          <a:ln w="12700">
            <a:solidFill>
              <a:srgbClr val="EBE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3200400"/>
            <a:ext cx="73152" cy="1645920"/>
          </a:xfrm>
          <a:prstGeom prst="rect">
            <a:avLst/>
          </a:prstGeom>
          <a:solidFill>
            <a:srgbClr val="B45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291840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202124"/>
                </a:solidFill>
              </a:rPr>
              <a:t>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310128"/>
            <a:ext cx="6035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02124"/>
                </a:solidFill>
              </a:rPr>
              <a:t>Unstructured Communication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611880"/>
            <a:ext cx="603504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E6B65"/>
                </a:solidFill>
              </a:rPr>
              <a:t>Family memories scattered across WhatsApp groups, Google Photos, and phone galleries. No context, no relationships, content gets buried over time.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029200"/>
            <a:ext cx="6858000" cy="1645920"/>
          </a:xfrm>
          <a:prstGeom prst="roundRect">
            <a:avLst/>
          </a:prstGeom>
          <a:solidFill>
            <a:srgbClr val="FFFCF5"/>
          </a:solidFill>
          <a:ln w="12700">
            <a:solidFill>
              <a:srgbClr val="EBE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5029200"/>
            <a:ext cx="73152" cy="1645920"/>
          </a:xfrm>
          <a:prstGeom prst="rect">
            <a:avLst/>
          </a:prstGeom>
          <a:solidFill>
            <a:srgbClr val="A03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120640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202124"/>
                </a:solidFill>
              </a:rPr>
              <a:t>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5138928"/>
            <a:ext cx="6035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02124"/>
                </a:solidFill>
              </a:rPr>
              <a:t>Diaspora Challenge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5440680"/>
            <a:ext cx="603504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E6B65"/>
                </a:solidFill>
              </a:rPr>
              <a:t>32M+ Indians abroad losing cultural roots. No tool helps them preserve &amp; share heritage in an Indian cultural context with proper kinship terminology.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1371600"/>
            <a:ext cx="3657600" cy="5303520"/>
          </a:xfrm>
          <a:prstGeom prst="roundRect">
            <a:avLst/>
          </a:prstGeom>
          <a:solidFill>
            <a:srgbClr val="FFFCF5"/>
          </a:solidFill>
          <a:ln w="12700">
            <a:solidFill>
              <a:srgbClr val="EBE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1554480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C4532A"/>
                </a:solidFill>
              </a:rPr>
              <a:t>The Urgency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210312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8C681A"/>
                </a:solidFill>
              </a:rPr>
              <a:t>80%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2148840"/>
            <a:ext cx="2103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E6B65"/>
                </a:solidFill>
              </a:rPr>
              <a:t>of oral traditions lost
within 2 generations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324612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8C681A"/>
                </a:solidFill>
              </a:rPr>
              <a:t>300M+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0" y="3291840"/>
            <a:ext cx="2103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E6B65"/>
                </a:solidFill>
              </a:rPr>
              <a:t>Indian households with
no heritage preservation tool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438912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8C681A"/>
                </a:solidFill>
              </a:rPr>
              <a:t>72%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18320" y="4434840"/>
            <a:ext cx="2103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E6B65"/>
                </a:solidFill>
              </a:rPr>
              <a:t>of millennials wish they
knew more family history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553212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8C681A"/>
                </a:solidFill>
              </a:rPr>
              <a:t>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18320" y="5577840"/>
            <a:ext cx="2103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E6B65"/>
                </a:solidFill>
              </a:rPr>
              <a:t>apps with Indian kinship
terms + voice stories + tree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E6B65"/>
                </a:solidFill>
              </a:rPr>
              <a:t>2/15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28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Vansh — A digital family heritage vault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202124"/>
                </a:solidFill>
              </a:rPr>
              <a:t>One app that combines Family Tree + Voice Stories + Photo Memories + Traditions + Time-Locked Messages — all designed for Indian families.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3566160" cy="1828800"/>
          </a:xfrm>
          <a:prstGeom prst="roundRect">
            <a:avLst/>
          </a:prstGeom>
          <a:solidFill>
            <a:srgbClr val="FFFCF5"/>
          </a:solidFill>
          <a:ln w="12700">
            <a:solidFill>
              <a:srgbClr val="EBE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103120"/>
            <a:ext cx="73152" cy="1828800"/>
          </a:xfrm>
          <a:prstGeom prst="rect">
            <a:avLst/>
          </a:prstGeom>
          <a:solidFill>
            <a:srgbClr val="228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202124"/>
                </a:solidFill>
              </a:rPr>
              <a:t>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212848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02124"/>
                </a:solidFill>
              </a:rPr>
              <a:t>Vriksha (Family Tree)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514600"/>
            <a:ext cx="274320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E6B65"/>
                </a:solidFill>
              </a:rPr>
              <a:t>Interactive tree with 40+ Hindi kinship terms, gesture navigation, relationship finder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59" y="2103120"/>
            <a:ext cx="3566160" cy="1828800"/>
          </a:xfrm>
          <a:prstGeom prst="roundRect">
            <a:avLst/>
          </a:prstGeom>
          <a:solidFill>
            <a:srgbClr val="FFFCF5"/>
          </a:solidFill>
          <a:ln w="12700">
            <a:solidFill>
              <a:srgbClr val="EBE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59" y="2103120"/>
            <a:ext cx="73152" cy="182880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39" y="2194560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202124"/>
                </a:solidFill>
              </a:rPr>
              <a:t>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39" y="2212848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02124"/>
                </a:solidFill>
              </a:rPr>
              <a:t>Smriti (Memories)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39" y="2514600"/>
            <a:ext cx="274320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E6B65"/>
                </a:solidFill>
              </a:rPr>
              <a:t>Photo/video gallery with AI tagging, member tagging, mosaic layout, event albums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598" y="2103120"/>
            <a:ext cx="3566160" cy="1828800"/>
          </a:xfrm>
          <a:prstGeom prst="roundRect">
            <a:avLst/>
          </a:prstGeom>
          <a:solidFill>
            <a:srgbClr val="FFFCF5"/>
          </a:solidFill>
          <a:ln w="12700">
            <a:solidFill>
              <a:srgbClr val="EBE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598" y="2103120"/>
            <a:ext cx="73152" cy="1828800"/>
          </a:xfrm>
          <a:prstGeom prst="rect">
            <a:avLst/>
          </a:prstGeom>
          <a:solidFill>
            <a:srgbClr val="8C6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8" y="2194560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202124"/>
                </a:solidFill>
              </a:rPr>
              <a:t>🎙️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78" y="2212848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02124"/>
                </a:solidFill>
              </a:rPr>
              <a:t>Katha (Stories)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78" y="2514600"/>
            <a:ext cx="274320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E6B65"/>
                </a:solidFill>
              </a:rPr>
              <a:t>Voice recordings with waveform viz, transcription, photo-story stitching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114800"/>
            <a:ext cx="3566160" cy="1828800"/>
          </a:xfrm>
          <a:prstGeom prst="roundRect">
            <a:avLst/>
          </a:prstGeom>
          <a:solidFill>
            <a:srgbClr val="FFFCF5"/>
          </a:solidFill>
          <a:ln w="12700">
            <a:solidFill>
              <a:srgbClr val="EBE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4114800"/>
            <a:ext cx="73152" cy="1828800"/>
          </a:xfrm>
          <a:prstGeom prst="rect">
            <a:avLst/>
          </a:prstGeom>
          <a:solidFill>
            <a:srgbClr val="C45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206240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202124"/>
                </a:solidFill>
              </a:rPr>
              <a:t>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224528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02124"/>
                </a:solidFill>
              </a:rPr>
              <a:t>Parampara (Traditions)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526280"/>
            <a:ext cx="274320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E6B65"/>
                </a:solidFill>
              </a:rPr>
              <a:t>Recipes, rituals, festivals with step-by-step docs and cultural context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80559" y="4114800"/>
            <a:ext cx="3566160" cy="1828800"/>
          </a:xfrm>
          <a:prstGeom prst="roundRect">
            <a:avLst/>
          </a:prstGeom>
          <a:solidFill>
            <a:srgbClr val="FFFCF5"/>
          </a:solidFill>
          <a:ln w="12700">
            <a:solidFill>
              <a:srgbClr val="EBE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480559" y="4114800"/>
            <a:ext cx="73152" cy="1828800"/>
          </a:xfrm>
          <a:prstGeom prst="rect">
            <a:avLst/>
          </a:prstGeom>
          <a:solidFill>
            <a:srgbClr val="C46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63439" y="4206240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202124"/>
                </a:solidFill>
              </a:rPr>
              <a:t>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20639" y="4224528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02124"/>
                </a:solidFill>
              </a:rPr>
              <a:t>Vasiyat (Wisdom Vault)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20639" y="4526280"/>
            <a:ext cx="274320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E6B65"/>
                </a:solidFill>
              </a:rPr>
              <a:t>End-to-end encrypted time-locked messages with 4 trigger types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598" y="4114800"/>
            <a:ext cx="3566160" cy="1828800"/>
          </a:xfrm>
          <a:prstGeom prst="roundRect">
            <a:avLst/>
          </a:prstGeom>
          <a:solidFill>
            <a:srgbClr val="FFFCF5"/>
          </a:solidFill>
          <a:ln w="12700">
            <a:solidFill>
              <a:srgbClr val="EBE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29598" y="4114800"/>
            <a:ext cx="73152" cy="1828800"/>
          </a:xfrm>
          <a:prstGeom prst="rect">
            <a:avLst/>
          </a:prstGeom>
          <a:solidFill>
            <a:srgbClr val="DA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2478" y="4206240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202124"/>
                </a:solidFill>
              </a:rPr>
              <a:t>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69678" y="4224528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02124"/>
                </a:solidFill>
              </a:rPr>
              <a:t>Nimantran (Invitations)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69678" y="4526280"/>
            <a:ext cx="274320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E6B65"/>
                </a:solidFill>
              </a:rPr>
              <a:t>15 ceremony types, RSVP tracking, reminders for family events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E6B65"/>
                </a:solidFill>
              </a:rPr>
              <a:t>3/15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497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Product: Time River (Home Feed)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Chronological feed of all family heritage content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4114800" cy="5029200"/>
          </a:xfrm>
          <a:prstGeom prst="roundRect">
            <a:avLst/>
          </a:prstGeom>
          <a:solidFill>
            <a:srgbClr val="F5EFE1"/>
          </a:solidFill>
          <a:ln w="12700">
            <a:solidFill>
              <a:srgbClr val="E0D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611880"/>
            <a:ext cx="3749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6E6B65"/>
                </a:solidFill>
              </a:rPr>
              <a:t>[Screenshot: app_home.png]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6E6B65"/>
                </a:solidFill>
              </a:rPr>
              <a:t>Time River — Family Feed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0" y="1371600"/>
            <a:ext cx="6400800" cy="5029200"/>
          </a:xfrm>
          <a:prstGeom prst="roundRect">
            <a:avLst/>
          </a:prstGeom>
          <a:solidFill>
            <a:srgbClr val="FFFCF5"/>
          </a:solidFill>
          <a:ln w="12700">
            <a:solidFill>
              <a:srgbClr val="EBE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0" y="1645920"/>
            <a:ext cx="5669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02124"/>
                </a:solidFill>
              </a:defRPr>
            </a:pPr>
            <a:r>
              <a:t>🏠  Unified chronological feed of ALL family content</a:t>
            </a:r>
          </a:p>
          <a:p>
            <a:pPr>
              <a:spcAft>
                <a:spcPts val="800"/>
              </a:spcAft>
              <a:defRPr sz="1500">
                <a:solidFill>
                  <a:srgbClr val="202124"/>
                </a:solidFill>
              </a:defRPr>
            </a:pPr>
            <a:r>
              <a:t>📸  Memories, voice stories, traditions — one timeline</a:t>
            </a:r>
          </a:p>
          <a:p>
            <a:pPr>
              <a:spcAft>
                <a:spcPts val="800"/>
              </a:spcAft>
              <a:defRPr sz="1500">
                <a:solidFill>
                  <a:srgbClr val="202124"/>
                </a:solidFill>
              </a:defRPr>
            </a:pPr>
            <a:r>
              <a:t>🔄  Cursor-based pagination for smooth scrolling</a:t>
            </a:r>
          </a:p>
          <a:p>
            <a:pPr>
              <a:spcAft>
                <a:spcPts val="800"/>
              </a:spcAft>
              <a:defRPr sz="1500">
                <a:solidFill>
                  <a:srgbClr val="202124"/>
                </a:solidFill>
              </a:defRPr>
            </a:pPr>
            <a:r>
              <a:t>🎵  Ambient audio mode — family stories play in background</a:t>
            </a:r>
          </a:p>
          <a:p>
            <a:pPr>
              <a:spcAft>
                <a:spcPts val="800"/>
              </a:spcAft>
              <a:defRPr sz="1500">
                <a:solidFill>
                  <a:srgbClr val="202124"/>
                </a:solidFill>
              </a:defRPr>
            </a:pPr>
            <a:r>
              <a:t>📊  Family statistics dashboard</a:t>
            </a:r>
          </a:p>
          <a:p>
            <a:pPr>
              <a:spcAft>
                <a:spcPts val="800"/>
              </a:spcAft>
              <a:defRPr sz="1500">
                <a:solidFill>
                  <a:srgbClr val="202124"/>
                </a:solidFill>
              </a:defRPr>
            </a:pPr>
            <a:r>
              <a:t>🔍  Quick search across all content types</a:t>
            </a:r>
          </a:p>
          <a:p>
            <a:pPr>
              <a:spcAft>
                <a:spcPts val="800"/>
              </a:spcAft>
              <a:defRPr sz="1500">
                <a:solidFill>
                  <a:srgbClr val="202124"/>
                </a:solidFill>
              </a:defRPr>
            </a:pPr>
            <a:r>
              <a:t>📱  Pull-to-refresh with haptic feedback</a:t>
            </a:r>
          </a:p>
          <a:p>
            <a:pPr>
              <a:spcAft>
                <a:spcPts val="800"/>
              </a:spcAft>
              <a:defRPr sz="1500">
                <a:solidFill>
                  <a:srgbClr val="202124"/>
                </a:solidFill>
              </a:defRPr>
            </a:pPr>
            <a:r>
              <a:t>🌐  Works offline — syncs when back online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E6B65"/>
                </a:solidFill>
              </a:rPr>
              <a:t>4/15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497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Product: Vriksha (Interactive Family Tree)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Custom graph algorithm with Indian kinship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4572000" cy="5029200"/>
          </a:xfrm>
          <a:prstGeom prst="roundRect">
            <a:avLst/>
          </a:prstGeom>
          <a:solidFill>
            <a:srgbClr val="F5EFE1"/>
          </a:solidFill>
          <a:ln w="12700">
            <a:solidFill>
              <a:srgbClr val="E0D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611880"/>
            <a:ext cx="4206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6E6B65"/>
                </a:solidFill>
              </a:rPr>
              <a:t>[Screenshot: app_tree.png]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6E6B65"/>
                </a:solidFill>
              </a:rPr>
              <a:t>Vriksha — Family Tree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60720" y="1371600"/>
            <a:ext cx="5943600" cy="5029200"/>
          </a:xfrm>
          <a:prstGeom prst="roundRect">
            <a:avLst/>
          </a:prstGeom>
          <a:solidFill>
            <a:srgbClr val="FFFCF5"/>
          </a:solidFill>
          <a:ln w="12700">
            <a:solidFill>
              <a:srgbClr val="EBE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0" y="1554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8C681A"/>
                </a:solidFill>
              </a:rPr>
              <a:t>Technical Highlights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192024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02124"/>
                </a:solidFill>
              </a:defRPr>
            </a:pPr>
            <a:r>
              <a:t>Custom 6-phase tree layout algorithm (BFS → positioning)</a:t>
            </a:r>
          </a:p>
          <a:p>
            <a:pPr>
              <a:spcAft>
                <a:spcPts val="600"/>
              </a:spcAft>
              <a:defRPr sz="1300">
                <a:solidFill>
                  <a:srgbClr val="202124"/>
                </a:solidFill>
              </a:defRPr>
            </a:pPr>
            <a:r>
              <a:t>40+ Hindi kinship terms (Sudanese kinship system)</a:t>
            </a:r>
          </a:p>
          <a:p>
            <a:pPr>
              <a:spcAft>
                <a:spcPts val="600"/>
              </a:spcAft>
              <a:defRPr sz="1300">
                <a:solidFill>
                  <a:srgbClr val="202124"/>
                </a:solidFill>
              </a:defRPr>
            </a:pPr>
            <a:r>
              <a:t>Auto-inference: 1 relationship → creates transitive links</a:t>
            </a:r>
          </a:p>
          <a:p>
            <a:pPr>
              <a:spcAft>
                <a:spcPts val="600"/>
              </a:spcAft>
              <a:defRPr sz="1300">
                <a:solidFill>
                  <a:srgbClr val="202124"/>
                </a:solidFill>
              </a:defRPr>
            </a:pPr>
            <a:r>
              <a:t>Pinch-to-zoom (0.3x–2.5x) + pan with silk-like inertia</a:t>
            </a:r>
          </a:p>
          <a:p>
            <a:pPr>
              <a:spcAft>
                <a:spcPts val="600"/>
              </a:spcAft>
              <a:defRPr sz="1300">
                <a:solidFill>
                  <a:srgbClr val="202124"/>
                </a:solidFill>
              </a:defRPr>
            </a:pPr>
            <a:r>
              <a:t>'View As' — re-root tree from any member's perspective</a:t>
            </a:r>
          </a:p>
          <a:p>
            <a:pPr>
              <a:spcAft>
                <a:spcPts val="600"/>
              </a:spcAft>
              <a:defRPr sz="1300">
                <a:solidFill>
                  <a:srgbClr val="202124"/>
                </a:solidFill>
              </a:defRPr>
            </a:pPr>
            <a:r>
              <a:t>Select 2 members → BFS finds &amp; labels relationship</a:t>
            </a:r>
          </a:p>
          <a:p>
            <a:pPr>
              <a:spcAft>
                <a:spcPts val="600"/>
              </a:spcAft>
              <a:defRPr sz="1300">
                <a:solidFill>
                  <a:srgbClr val="202124"/>
                </a:solidFill>
              </a:defRPr>
            </a:pPr>
            <a:r>
              <a:t>Real-time Firebase sync across devices</a:t>
            </a:r>
          </a:p>
          <a:p>
            <a:pPr>
              <a:spcAft>
                <a:spcPts val="600"/>
              </a:spcAft>
              <a:defRPr sz="1300">
                <a:solidFill>
                  <a:srgbClr val="202124"/>
                </a:solidFill>
              </a:defRPr>
            </a:pPr>
            <a:r>
              <a:t>Closure table → O(1) ancestor/descendant queries</a:t>
            </a:r>
          </a:p>
          <a:p>
            <a:pPr>
              <a:spcAft>
                <a:spcPts val="600"/>
              </a:spcAft>
              <a:defRPr sz="1300">
                <a:solidFill>
                  <a:srgbClr val="202124"/>
                </a:solidFill>
              </a:defRPr>
            </a:pPr>
            <a:r>
              <a:t>Gesture: double-tap to center, haptic feedback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E6B65"/>
                </a:solidFill>
              </a:rPr>
              <a:t>5/15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497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Client-Server with Offline-First capability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3840480" cy="5120640"/>
          </a:xfrm>
          <a:prstGeom prst="roundRect">
            <a:avLst/>
          </a:prstGeom>
          <a:solidFill>
            <a:srgbClr val="F0F8FF"/>
          </a:solidFill>
          <a:ln w="12700">
            <a:solidFill>
              <a:srgbClr val="296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3474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2962FF"/>
                </a:solidFill>
              </a:rPr>
              <a:t>📱 Mobile App (Expo/React Native)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65960"/>
            <a:ext cx="3474720" cy="502920"/>
          </a:xfrm>
          <a:prstGeom prst="roundRect">
            <a:avLst/>
          </a:prstGeom>
          <a:solidFill>
            <a:srgbClr val="FFFCF5"/>
          </a:solidFill>
          <a:ln w="12700">
            <a:solidFill>
              <a:srgbClr val="C8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011680"/>
            <a:ext cx="1463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02124"/>
                </a:solidFill>
              </a:rPr>
              <a:t>Expo Router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12848"/>
            <a:ext cx="3108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6B65"/>
                </a:solidFill>
              </a:rPr>
              <a:t>File-based navigation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560320"/>
            <a:ext cx="3474720" cy="502920"/>
          </a:xfrm>
          <a:prstGeom prst="roundRect">
            <a:avLst/>
          </a:prstGeom>
          <a:solidFill>
            <a:srgbClr val="FFFCF5"/>
          </a:solidFill>
          <a:ln w="12700">
            <a:solidFill>
              <a:srgbClr val="C8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606040"/>
            <a:ext cx="1463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02124"/>
                </a:solidFill>
              </a:rPr>
              <a:t>Zustand (9 stores)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807208"/>
            <a:ext cx="3108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6B65"/>
                </a:solidFill>
              </a:rPr>
              <a:t>State management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154680"/>
            <a:ext cx="3474720" cy="502920"/>
          </a:xfrm>
          <a:prstGeom prst="roundRect">
            <a:avLst/>
          </a:prstGeom>
          <a:solidFill>
            <a:srgbClr val="FFFCF5"/>
          </a:solidFill>
          <a:ln w="12700">
            <a:solidFill>
              <a:srgbClr val="C8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200400"/>
            <a:ext cx="1463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02124"/>
                </a:solidFill>
              </a:rPr>
              <a:t>NativeWind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401568"/>
            <a:ext cx="3108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6B65"/>
                </a:solidFill>
              </a:rPr>
              <a:t>Tailwind CSS styling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3474720" cy="502920"/>
          </a:xfrm>
          <a:prstGeom prst="roundRect">
            <a:avLst/>
          </a:prstGeom>
          <a:solidFill>
            <a:srgbClr val="FFFCF5"/>
          </a:solidFill>
          <a:ln w="12700">
            <a:solidFill>
              <a:srgbClr val="C8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794760"/>
            <a:ext cx="1463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02124"/>
                </a:solidFill>
              </a:rPr>
              <a:t>Reanimated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995928"/>
            <a:ext cx="3108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6B65"/>
                </a:solidFill>
              </a:rPr>
              <a:t>60fps animations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343400"/>
            <a:ext cx="3474720" cy="502920"/>
          </a:xfrm>
          <a:prstGeom prst="roundRect">
            <a:avLst/>
          </a:prstGeom>
          <a:solidFill>
            <a:srgbClr val="FFFCF5"/>
          </a:solidFill>
          <a:ln w="12700">
            <a:solidFill>
              <a:srgbClr val="C8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389120"/>
            <a:ext cx="1463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02124"/>
                </a:solidFill>
              </a:rPr>
              <a:t>SQLite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590288"/>
            <a:ext cx="3108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6B65"/>
                </a:solidFill>
              </a:rPr>
              <a:t>Offline database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937760"/>
            <a:ext cx="3474720" cy="502920"/>
          </a:xfrm>
          <a:prstGeom prst="roundRect">
            <a:avLst/>
          </a:prstGeom>
          <a:solidFill>
            <a:srgbClr val="FFFCF5"/>
          </a:solidFill>
          <a:ln w="12700">
            <a:solidFill>
              <a:srgbClr val="C8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983480"/>
            <a:ext cx="1463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02124"/>
                </a:solidFill>
              </a:rPr>
              <a:t>Secure Store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184648"/>
            <a:ext cx="3108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6B65"/>
                </a:solidFill>
              </a:rPr>
              <a:t>Token encryption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532120"/>
            <a:ext cx="3474720" cy="502920"/>
          </a:xfrm>
          <a:prstGeom prst="roundRect">
            <a:avLst/>
          </a:prstGeom>
          <a:solidFill>
            <a:srgbClr val="FFFCF5"/>
          </a:solidFill>
          <a:ln w="12700">
            <a:solidFill>
              <a:srgbClr val="C8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577840"/>
            <a:ext cx="1463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02124"/>
                </a:solidFill>
              </a:rPr>
              <a:t>Firebase RT DB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779008"/>
            <a:ext cx="3108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6B65"/>
                </a:solidFill>
              </a:rPr>
              <a:t>Real-time sync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4840" y="3200400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6E6B65"/>
                </a:solidFill>
              </a:rPr>
              <a:t>REST
API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34840" y="384048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C49734"/>
                </a:solidFill>
              </a:rPr>
              <a:t>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34840" y="4206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6E6B65"/>
                </a:solidFill>
              </a:rPr>
              <a:t>JSON
HTTPS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394960" y="1371600"/>
            <a:ext cx="3474720" cy="3200400"/>
          </a:xfrm>
          <a:prstGeom prst="roundRect">
            <a:avLst/>
          </a:prstGeom>
          <a:solidFill>
            <a:srgbClr val="FFF5EE"/>
          </a:solidFill>
          <a:ln w="12700">
            <a:solidFill>
              <a:srgbClr val="C453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577840" y="146304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C4532A"/>
                </a:solidFill>
              </a:rPr>
              <a:t>⚙️ Backend (Node.js/Express)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577840" y="1965960"/>
            <a:ext cx="3108960" cy="393192"/>
          </a:xfrm>
          <a:prstGeom prst="roundRect">
            <a:avLst/>
          </a:prstGeom>
          <a:solidFill>
            <a:srgbClr val="FFFCF5"/>
          </a:solidFill>
          <a:ln w="12700">
            <a:solidFill>
              <a:srgbClr val="E6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715000" y="2011680"/>
            <a:ext cx="2834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02124"/>
                </a:solidFill>
              </a:rPr>
              <a:t>JWT Auth + bcrypt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577840" y="2441448"/>
            <a:ext cx="3108960" cy="393192"/>
          </a:xfrm>
          <a:prstGeom prst="roundRect">
            <a:avLst/>
          </a:prstGeom>
          <a:solidFill>
            <a:srgbClr val="FFFCF5"/>
          </a:solidFill>
          <a:ln w="12700">
            <a:solidFill>
              <a:srgbClr val="E6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715000" y="2487168"/>
            <a:ext cx="2834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02124"/>
                </a:solidFill>
              </a:rPr>
              <a:t>Rate Limiting (4-tier)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577840" y="2916936"/>
            <a:ext cx="3108960" cy="393192"/>
          </a:xfrm>
          <a:prstGeom prst="roundRect">
            <a:avLst/>
          </a:prstGeom>
          <a:solidFill>
            <a:srgbClr val="FFFCF5"/>
          </a:solidFill>
          <a:ln w="12700">
            <a:solidFill>
              <a:srgbClr val="E6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715000" y="2962656"/>
            <a:ext cx="2834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02124"/>
                </a:solidFill>
              </a:rPr>
              <a:t>Helmet.js Security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577840" y="3392424"/>
            <a:ext cx="3108960" cy="393192"/>
          </a:xfrm>
          <a:prstGeom prst="roundRect">
            <a:avLst/>
          </a:prstGeom>
          <a:solidFill>
            <a:srgbClr val="FFFCF5"/>
          </a:solidFill>
          <a:ln w="12700">
            <a:solidFill>
              <a:srgbClr val="E6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715000" y="3438144"/>
            <a:ext cx="2834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02124"/>
                </a:solidFill>
              </a:rPr>
              <a:t>Multer File Uploads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577840" y="3867912"/>
            <a:ext cx="3108960" cy="393192"/>
          </a:xfrm>
          <a:prstGeom prst="roundRect">
            <a:avLst/>
          </a:prstGeom>
          <a:solidFill>
            <a:srgbClr val="FFFCF5"/>
          </a:solidFill>
          <a:ln w="12700">
            <a:solidFill>
              <a:srgbClr val="E6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715000" y="3913632"/>
            <a:ext cx="2834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02124"/>
                </a:solidFill>
              </a:rPr>
              <a:t>Winston + Sentry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394960" y="4846320"/>
            <a:ext cx="3474720" cy="1645920"/>
          </a:xfrm>
          <a:prstGeom prst="roundRect">
            <a:avLst/>
          </a:prstGeom>
          <a:solidFill>
            <a:srgbClr val="F0FFF0"/>
          </a:solidFill>
          <a:ln w="12700">
            <a:solidFill>
              <a:srgbClr val="228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577840" y="493776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228B5E"/>
                </a:solidFill>
              </a:rPr>
              <a:t>🗄️ MySQL 8.0 Database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577840" y="530352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02124"/>
                </a:solidFill>
              </a:defRPr>
            </a:pPr>
            <a:r>
              <a:t>13 tables • UUID PKs • JSON columns</a:t>
            </a:r>
          </a:p>
          <a:p>
            <a:pPr>
              <a:spcAft>
                <a:spcPts val="300"/>
              </a:spcAft>
              <a:defRPr sz="1100">
                <a:solidFill>
                  <a:srgbClr val="202124"/>
                </a:solidFill>
              </a:defRPr>
            </a:pPr>
            <a:r>
              <a:t>Closure table for O(1) ancestry</a:t>
            </a:r>
          </a:p>
          <a:p>
            <a:pPr>
              <a:spcAft>
                <a:spcPts val="300"/>
              </a:spcAft>
              <a:defRPr sz="1100">
                <a:solidFill>
                  <a:srgbClr val="202124"/>
                </a:solidFill>
              </a:defRPr>
            </a:pPr>
            <a:r>
              <a:t>19 indexes • CASCADE deletes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235440" y="1371600"/>
            <a:ext cx="2560320" cy="2286000"/>
          </a:xfrm>
          <a:prstGeom prst="roundRect">
            <a:avLst/>
          </a:prstGeom>
          <a:solidFill>
            <a:srgbClr val="FFF8F0"/>
          </a:solidFill>
          <a:ln w="12700">
            <a:solidFill>
              <a:srgbClr val="C497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418320" y="1463040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8C681A"/>
                </a:solidFill>
              </a:rPr>
              <a:t>🤖 AI (Gemini 1.5)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418320" y="182880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202124"/>
                </a:solidFill>
              </a:defRPr>
            </a:pPr>
            <a:r>
              <a:t>Image analysis</a:t>
            </a:r>
          </a:p>
          <a:p>
            <a:pPr>
              <a:spcAft>
                <a:spcPts val="200"/>
              </a:spcAft>
              <a:defRPr sz="1100">
                <a:solidFill>
                  <a:srgbClr val="202124"/>
                </a:solidFill>
              </a:defRPr>
            </a:pPr>
            <a:r>
              <a:t>Era detection</a:t>
            </a:r>
          </a:p>
          <a:p>
            <a:pPr>
              <a:spcAft>
                <a:spcPts val="200"/>
              </a:spcAft>
              <a:defRPr sz="1100">
                <a:solidFill>
                  <a:srgbClr val="202124"/>
                </a:solidFill>
              </a:defRPr>
            </a:pPr>
            <a:r>
              <a:t>Transcription</a:t>
            </a:r>
          </a:p>
          <a:p>
            <a:pPr>
              <a:spcAft>
                <a:spcPts val="200"/>
              </a:spcAft>
              <a:defRPr sz="1100">
                <a:solidFill>
                  <a:srgbClr val="202124"/>
                </a:solidFill>
              </a:defRPr>
            </a:pPr>
            <a:r>
              <a:t>Digital Echo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235440" y="3931920"/>
            <a:ext cx="2560320" cy="1371600"/>
          </a:xfrm>
          <a:prstGeom prst="roundRect">
            <a:avLst/>
          </a:prstGeom>
          <a:solidFill>
            <a:srgbClr val="FFF5F5"/>
          </a:solidFill>
          <a:ln w="12700">
            <a:solidFill>
              <a:srgbClr val="C8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418320" y="4023360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C4532A"/>
                </a:solidFill>
              </a:rPr>
              <a:t>🔥 Firebase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418320" y="438912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202124"/>
                </a:solidFill>
              </a:defRPr>
            </a:pPr>
            <a:r>
              <a:t>Realtime DB sync</a:t>
            </a:r>
          </a:p>
          <a:p>
            <a:pPr>
              <a:spcAft>
                <a:spcPts val="200"/>
              </a:spcAft>
              <a:defRPr sz="1100">
                <a:solidFill>
                  <a:srgbClr val="202124"/>
                </a:solidFill>
              </a:defRPr>
            </a:pPr>
            <a:r>
              <a:t>Cross-device collab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235440" y="5577840"/>
            <a:ext cx="2560320" cy="914400"/>
          </a:xfrm>
          <a:prstGeom prst="roundRect">
            <a:avLst/>
          </a:prstGeom>
          <a:solidFill>
            <a:srgbClr val="F5F0FF"/>
          </a:solidFill>
          <a:ln w="12700">
            <a:solidFill>
              <a:srgbClr val="6450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418320" y="5669280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6450B4"/>
                </a:solidFill>
              </a:rPr>
              <a:t>📁 File Storage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418320" y="5989320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6E6B65"/>
                </a:solidFill>
              </a:rPr>
              <a:t>Server disk /uploads/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E6B65"/>
                </a:solidFill>
              </a:rPr>
              <a:t>6/15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497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Production-grade choices across the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2024481" cy="365760"/>
          </a:xfrm>
          <a:prstGeom prst="rect">
            <a:avLst/>
          </a:prstGeom>
          <a:solidFill>
            <a:srgbClr val="8C681A"/>
          </a:solidFill>
          <a:ln w="12700">
            <a:solidFill>
              <a:srgbClr val="DC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1841601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Layer</a:t>
            </a:r>
          </a:p>
        </p:txBody>
      </p:sp>
      <p:sp>
        <p:nvSpPr>
          <p:cNvPr id="7" name="Rectangle 6"/>
          <p:cNvSpPr/>
          <p:nvPr/>
        </p:nvSpPr>
        <p:spPr>
          <a:xfrm>
            <a:off x="2481681" y="1280160"/>
            <a:ext cx="3599078" cy="365760"/>
          </a:xfrm>
          <a:prstGeom prst="rect">
            <a:avLst/>
          </a:prstGeom>
          <a:solidFill>
            <a:srgbClr val="8C681A"/>
          </a:solidFill>
          <a:ln w="12700">
            <a:solidFill>
              <a:srgbClr val="DC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73121" y="1307592"/>
            <a:ext cx="3416198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Technology</a:t>
            </a:r>
          </a:p>
        </p:txBody>
      </p:sp>
      <p:sp>
        <p:nvSpPr>
          <p:cNvPr id="9" name="Rectangle 8"/>
          <p:cNvSpPr/>
          <p:nvPr/>
        </p:nvSpPr>
        <p:spPr>
          <a:xfrm>
            <a:off x="6080760" y="1280160"/>
            <a:ext cx="5623560" cy="365760"/>
          </a:xfrm>
          <a:prstGeom prst="rect">
            <a:avLst/>
          </a:prstGeom>
          <a:solidFill>
            <a:srgbClr val="8C681A"/>
          </a:solidFill>
          <a:ln w="12700">
            <a:solidFill>
              <a:srgbClr val="DC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72200" y="1307592"/>
            <a:ext cx="54406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Why This Choice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645920"/>
            <a:ext cx="2024481" cy="329184"/>
          </a:xfrm>
          <a:prstGeom prst="rect">
            <a:avLst/>
          </a:prstGeom>
          <a:solidFill>
            <a:srgbClr val="FFFCF5"/>
          </a:solidFill>
          <a:ln w="12700">
            <a:solidFill>
              <a:srgbClr val="DC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673352"/>
            <a:ext cx="1841601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202124"/>
                </a:solidFill>
              </a:rPr>
              <a:t>Frontend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81681" y="1645920"/>
            <a:ext cx="3599078" cy="329184"/>
          </a:xfrm>
          <a:prstGeom prst="rect">
            <a:avLst/>
          </a:prstGeom>
          <a:solidFill>
            <a:srgbClr val="FFFCF5"/>
          </a:solidFill>
          <a:ln w="12700">
            <a:solidFill>
              <a:srgbClr val="DC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73121" y="1673352"/>
            <a:ext cx="341619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202124"/>
                </a:solidFill>
              </a:rPr>
              <a:t>React Native 0.81 + Expo SDK 54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80760" y="1645920"/>
            <a:ext cx="5623560" cy="329184"/>
          </a:xfrm>
          <a:prstGeom prst="rect">
            <a:avLst/>
          </a:prstGeom>
          <a:solidFill>
            <a:srgbClr val="FFFCF5"/>
          </a:solidFill>
          <a:ln w="12700">
            <a:solidFill>
              <a:srgbClr val="DC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200" y="1673352"/>
            <a:ext cx="5440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202124"/>
                </a:solidFill>
              </a:rPr>
              <a:t>Cross-platform (iOS/Android/Web), OTA updates, 70+ Expo modules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1975104"/>
            <a:ext cx="2024481" cy="329184"/>
          </a:xfrm>
          <a:prstGeom prst="rect">
            <a:avLst/>
          </a:prstGeom>
          <a:solidFill>
            <a:srgbClr val="F9F6EE"/>
          </a:solidFill>
          <a:ln w="12700">
            <a:solidFill>
              <a:srgbClr val="DC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2002536"/>
            <a:ext cx="1841601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202124"/>
                </a:solidFill>
              </a:rPr>
              <a:t>Language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81681" y="1975104"/>
            <a:ext cx="3599078" cy="329184"/>
          </a:xfrm>
          <a:prstGeom prst="rect">
            <a:avLst/>
          </a:prstGeom>
          <a:solidFill>
            <a:srgbClr val="F9F6EE"/>
          </a:solidFill>
          <a:ln w="12700">
            <a:solidFill>
              <a:srgbClr val="DC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73121" y="2002536"/>
            <a:ext cx="341619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202124"/>
                </a:solidFill>
              </a:rPr>
              <a:t>TypeScript 5.9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80760" y="1975104"/>
            <a:ext cx="5623560" cy="329184"/>
          </a:xfrm>
          <a:prstGeom prst="rect">
            <a:avLst/>
          </a:prstGeom>
          <a:solidFill>
            <a:srgbClr val="F9F6EE"/>
          </a:solidFill>
          <a:ln w="12700">
            <a:solidFill>
              <a:srgbClr val="DC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72200" y="2002536"/>
            <a:ext cx="5440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202124"/>
                </a:solidFill>
              </a:rPr>
              <a:t>Type safety across frontend + backend, better DX, fewer runtime errors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304288"/>
            <a:ext cx="2024481" cy="329184"/>
          </a:xfrm>
          <a:prstGeom prst="rect">
            <a:avLst/>
          </a:prstGeom>
          <a:solidFill>
            <a:srgbClr val="FFFCF5"/>
          </a:solidFill>
          <a:ln w="12700">
            <a:solidFill>
              <a:srgbClr val="DC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2331720"/>
            <a:ext cx="1841601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202124"/>
                </a:solidFill>
              </a:rPr>
              <a:t>Navigation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81681" y="2304288"/>
            <a:ext cx="3599078" cy="329184"/>
          </a:xfrm>
          <a:prstGeom prst="rect">
            <a:avLst/>
          </a:prstGeom>
          <a:solidFill>
            <a:srgbClr val="FFFCF5"/>
          </a:solidFill>
          <a:ln w="12700">
            <a:solidFill>
              <a:srgbClr val="DC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73121" y="2331720"/>
            <a:ext cx="341619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202124"/>
                </a:solidFill>
              </a:rPr>
              <a:t>Expo Router (file-based)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80760" y="2304288"/>
            <a:ext cx="5623560" cy="329184"/>
          </a:xfrm>
          <a:prstGeom prst="rect">
            <a:avLst/>
          </a:prstGeom>
          <a:solidFill>
            <a:srgbClr val="FFFCF5"/>
          </a:solidFill>
          <a:ln w="12700">
            <a:solidFill>
              <a:srgbClr val="DC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72200" y="2331720"/>
            <a:ext cx="5440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202124"/>
                </a:solidFill>
              </a:rPr>
              <a:t>Next.js-style routing, deep linking built-in, type-safe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2633472"/>
            <a:ext cx="2024481" cy="329184"/>
          </a:xfrm>
          <a:prstGeom prst="rect">
            <a:avLst/>
          </a:prstGeom>
          <a:solidFill>
            <a:srgbClr val="F9F6EE"/>
          </a:solidFill>
          <a:ln w="12700">
            <a:solidFill>
              <a:srgbClr val="DC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2660904"/>
            <a:ext cx="1841601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202124"/>
                </a:solidFill>
              </a:rPr>
              <a:t>Styling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481681" y="2633472"/>
            <a:ext cx="3599078" cy="329184"/>
          </a:xfrm>
          <a:prstGeom prst="rect">
            <a:avLst/>
          </a:prstGeom>
          <a:solidFill>
            <a:srgbClr val="F9F6EE"/>
          </a:solidFill>
          <a:ln w="12700">
            <a:solidFill>
              <a:srgbClr val="DC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573121" y="2660904"/>
            <a:ext cx="341619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202124"/>
                </a:solidFill>
              </a:rPr>
              <a:t>NativeWind (Tailwind CSS)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80760" y="2633472"/>
            <a:ext cx="5623560" cy="329184"/>
          </a:xfrm>
          <a:prstGeom prst="rect">
            <a:avLst/>
          </a:prstGeom>
          <a:solidFill>
            <a:srgbClr val="F9F6EE"/>
          </a:solidFill>
          <a:ln w="12700">
            <a:solidFill>
              <a:srgbClr val="DC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72200" y="2660904"/>
            <a:ext cx="5440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202124"/>
                </a:solidFill>
              </a:rPr>
              <a:t>Utility-first, familiar for web devs, compiled to StyleSheet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2962656"/>
            <a:ext cx="2024481" cy="329184"/>
          </a:xfrm>
          <a:prstGeom prst="rect">
            <a:avLst/>
          </a:prstGeom>
          <a:solidFill>
            <a:srgbClr val="FFFCF5"/>
          </a:solidFill>
          <a:ln w="12700">
            <a:solidFill>
              <a:srgbClr val="DC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2990088"/>
            <a:ext cx="1841601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202124"/>
                </a:solidFill>
              </a:rPr>
              <a:t>Animations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481681" y="2962656"/>
            <a:ext cx="3599078" cy="329184"/>
          </a:xfrm>
          <a:prstGeom prst="rect">
            <a:avLst/>
          </a:prstGeom>
          <a:solidFill>
            <a:srgbClr val="FFFCF5"/>
          </a:solidFill>
          <a:ln w="12700">
            <a:solidFill>
              <a:srgbClr val="DC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573121" y="2990088"/>
            <a:ext cx="341619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202124"/>
                </a:solidFill>
              </a:rPr>
              <a:t>Reanimated 4 + Gesture Handler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80760" y="2962656"/>
            <a:ext cx="5623560" cy="329184"/>
          </a:xfrm>
          <a:prstGeom prst="rect">
            <a:avLst/>
          </a:prstGeom>
          <a:solidFill>
            <a:srgbClr val="FFFCF5"/>
          </a:solidFill>
          <a:ln w="12700">
            <a:solidFill>
              <a:srgbClr val="DC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72200" y="2990088"/>
            <a:ext cx="5440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202124"/>
                </a:solidFill>
              </a:rPr>
              <a:t>60fps UI-thread animations, gesture system, haptic feedback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3291839"/>
            <a:ext cx="2024481" cy="329184"/>
          </a:xfrm>
          <a:prstGeom prst="rect">
            <a:avLst/>
          </a:prstGeom>
          <a:solidFill>
            <a:srgbClr val="F9F6EE"/>
          </a:solidFill>
          <a:ln w="12700">
            <a:solidFill>
              <a:srgbClr val="DC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8640" y="3319271"/>
            <a:ext cx="1841601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202124"/>
                </a:solidFill>
              </a:rPr>
              <a:t>State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481681" y="3291839"/>
            <a:ext cx="3599078" cy="329184"/>
          </a:xfrm>
          <a:prstGeom prst="rect">
            <a:avLst/>
          </a:prstGeom>
          <a:solidFill>
            <a:srgbClr val="F9F6EE"/>
          </a:solidFill>
          <a:ln w="12700">
            <a:solidFill>
              <a:srgbClr val="DC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573121" y="3319271"/>
            <a:ext cx="341619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202124"/>
                </a:solidFill>
              </a:rPr>
              <a:t>Zustand 5 (9 stores)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080760" y="3291839"/>
            <a:ext cx="5623560" cy="329184"/>
          </a:xfrm>
          <a:prstGeom prst="rect">
            <a:avLst/>
          </a:prstGeom>
          <a:solidFill>
            <a:srgbClr val="F9F6EE"/>
          </a:solidFill>
          <a:ln w="12700">
            <a:solidFill>
              <a:srgbClr val="DC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172200" y="3319271"/>
            <a:ext cx="5440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202124"/>
                </a:solidFill>
              </a:rPr>
              <a:t>Lightweight (~1KB), no boilerplate, persist middleware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3621024"/>
            <a:ext cx="2024481" cy="329184"/>
          </a:xfrm>
          <a:prstGeom prst="rect">
            <a:avLst/>
          </a:prstGeom>
          <a:solidFill>
            <a:srgbClr val="FFFCF5"/>
          </a:solidFill>
          <a:ln w="12700">
            <a:solidFill>
              <a:srgbClr val="DC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8640" y="3648456"/>
            <a:ext cx="1841601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202124"/>
                </a:solidFill>
              </a:rPr>
              <a:t>Backend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481681" y="3621024"/>
            <a:ext cx="3599078" cy="329184"/>
          </a:xfrm>
          <a:prstGeom prst="rect">
            <a:avLst/>
          </a:prstGeom>
          <a:solidFill>
            <a:srgbClr val="FFFCF5"/>
          </a:solidFill>
          <a:ln w="12700">
            <a:solidFill>
              <a:srgbClr val="DC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573121" y="3648456"/>
            <a:ext cx="341619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202124"/>
                </a:solidFill>
              </a:rPr>
              <a:t>Node.js + Express 4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080760" y="3621024"/>
            <a:ext cx="5623560" cy="329184"/>
          </a:xfrm>
          <a:prstGeom prst="rect">
            <a:avLst/>
          </a:prstGeom>
          <a:solidFill>
            <a:srgbClr val="FFFCF5"/>
          </a:solidFill>
          <a:ln w="12700">
            <a:solidFill>
              <a:srgbClr val="DC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72200" y="3648456"/>
            <a:ext cx="5440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202124"/>
                </a:solidFill>
              </a:rPr>
              <a:t>Fast prototyping, massive ecosystem, TypeScript support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200" y="3950208"/>
            <a:ext cx="2024481" cy="329184"/>
          </a:xfrm>
          <a:prstGeom prst="rect">
            <a:avLst/>
          </a:prstGeom>
          <a:solidFill>
            <a:srgbClr val="F9F6EE"/>
          </a:solidFill>
          <a:ln w="12700">
            <a:solidFill>
              <a:srgbClr val="DC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48640" y="3977640"/>
            <a:ext cx="1841601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202124"/>
                </a:solidFill>
              </a:rPr>
              <a:t>Database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481681" y="3950208"/>
            <a:ext cx="3599078" cy="329184"/>
          </a:xfrm>
          <a:prstGeom prst="rect">
            <a:avLst/>
          </a:prstGeom>
          <a:solidFill>
            <a:srgbClr val="F9F6EE"/>
          </a:solidFill>
          <a:ln w="12700">
            <a:solidFill>
              <a:srgbClr val="DC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573121" y="3977640"/>
            <a:ext cx="341619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202124"/>
                </a:solidFill>
              </a:rPr>
              <a:t>MySQL 8.0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080760" y="3950208"/>
            <a:ext cx="5623560" cy="329184"/>
          </a:xfrm>
          <a:prstGeom prst="rect">
            <a:avLst/>
          </a:prstGeom>
          <a:solidFill>
            <a:srgbClr val="F9F6EE"/>
          </a:solidFill>
          <a:ln w="12700">
            <a:solidFill>
              <a:srgbClr val="DC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172200" y="3977640"/>
            <a:ext cx="5440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202124"/>
                </a:solidFill>
              </a:rPr>
              <a:t>ACID compliance, JSON columns, proven at scale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57200" y="4279392"/>
            <a:ext cx="2024481" cy="329184"/>
          </a:xfrm>
          <a:prstGeom prst="rect">
            <a:avLst/>
          </a:prstGeom>
          <a:solidFill>
            <a:srgbClr val="FFFCF5"/>
          </a:solidFill>
          <a:ln w="12700">
            <a:solidFill>
              <a:srgbClr val="DC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48640" y="4306824"/>
            <a:ext cx="1841601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202124"/>
                </a:solidFill>
              </a:rPr>
              <a:t>Offline DB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481681" y="4279392"/>
            <a:ext cx="3599078" cy="329184"/>
          </a:xfrm>
          <a:prstGeom prst="rect">
            <a:avLst/>
          </a:prstGeom>
          <a:solidFill>
            <a:srgbClr val="FFFCF5"/>
          </a:solidFill>
          <a:ln w="12700">
            <a:solidFill>
              <a:srgbClr val="DC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573121" y="4306824"/>
            <a:ext cx="341619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202124"/>
                </a:solidFill>
              </a:rPr>
              <a:t>expo-sqlite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080760" y="4279392"/>
            <a:ext cx="5623560" cy="329184"/>
          </a:xfrm>
          <a:prstGeom prst="rect">
            <a:avLst/>
          </a:prstGeom>
          <a:solidFill>
            <a:srgbClr val="FFFCF5"/>
          </a:solidFill>
          <a:ln w="12700">
            <a:solidFill>
              <a:srgbClr val="DC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172200" y="4306824"/>
            <a:ext cx="5440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202124"/>
                </a:solidFill>
              </a:rPr>
              <a:t>Local SQLite for offline-first, sync queue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57200" y="4608576"/>
            <a:ext cx="2024481" cy="329184"/>
          </a:xfrm>
          <a:prstGeom prst="rect">
            <a:avLst/>
          </a:prstGeom>
          <a:solidFill>
            <a:srgbClr val="F9F6EE"/>
          </a:solidFill>
          <a:ln w="12700">
            <a:solidFill>
              <a:srgbClr val="DC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8640" y="4636008"/>
            <a:ext cx="1841601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202124"/>
                </a:solidFill>
              </a:rPr>
              <a:t>AI/ML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481681" y="4608576"/>
            <a:ext cx="3599078" cy="329184"/>
          </a:xfrm>
          <a:prstGeom prst="rect">
            <a:avLst/>
          </a:prstGeom>
          <a:solidFill>
            <a:srgbClr val="F9F6EE"/>
          </a:solidFill>
          <a:ln w="12700">
            <a:solidFill>
              <a:srgbClr val="DC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573121" y="4636008"/>
            <a:ext cx="341619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202124"/>
                </a:solidFill>
              </a:rPr>
              <a:t>Google Gemini 1.5 Flash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080760" y="4608576"/>
            <a:ext cx="5623560" cy="329184"/>
          </a:xfrm>
          <a:prstGeom prst="rect">
            <a:avLst/>
          </a:prstGeom>
          <a:solidFill>
            <a:srgbClr val="F9F6EE"/>
          </a:solidFill>
          <a:ln w="12700">
            <a:solidFill>
              <a:srgbClr val="DC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172200" y="4636008"/>
            <a:ext cx="5440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202124"/>
                </a:solidFill>
              </a:rPr>
              <a:t>Image analysis, transcription, persona chat, low cost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57200" y="4937759"/>
            <a:ext cx="2024481" cy="329184"/>
          </a:xfrm>
          <a:prstGeom prst="rect">
            <a:avLst/>
          </a:prstGeom>
          <a:solidFill>
            <a:srgbClr val="FFFCF5"/>
          </a:solidFill>
          <a:ln w="12700">
            <a:solidFill>
              <a:srgbClr val="DC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48640" y="4965191"/>
            <a:ext cx="1841601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202124"/>
                </a:solidFill>
              </a:rPr>
              <a:t>Auth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481681" y="4937759"/>
            <a:ext cx="3599078" cy="329184"/>
          </a:xfrm>
          <a:prstGeom prst="rect">
            <a:avLst/>
          </a:prstGeom>
          <a:solidFill>
            <a:srgbClr val="FFFCF5"/>
          </a:solidFill>
          <a:ln w="12700">
            <a:solidFill>
              <a:srgbClr val="DC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573121" y="4965191"/>
            <a:ext cx="341619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202124"/>
                </a:solidFill>
              </a:rPr>
              <a:t>JWT + bcrypt + Refresh Tokens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080760" y="4937759"/>
            <a:ext cx="5623560" cy="329184"/>
          </a:xfrm>
          <a:prstGeom prst="rect">
            <a:avLst/>
          </a:prstGeom>
          <a:solidFill>
            <a:srgbClr val="FFFCF5"/>
          </a:solidFill>
          <a:ln w="12700">
            <a:solidFill>
              <a:srgbClr val="DC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172200" y="4965191"/>
            <a:ext cx="5440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202124"/>
                </a:solidFill>
              </a:rPr>
              <a:t>Stateless auth, secure password hashing, session management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57200" y="5266944"/>
            <a:ext cx="2024481" cy="329184"/>
          </a:xfrm>
          <a:prstGeom prst="rect">
            <a:avLst/>
          </a:prstGeom>
          <a:solidFill>
            <a:srgbClr val="F9F6EE"/>
          </a:solidFill>
          <a:ln w="12700">
            <a:solidFill>
              <a:srgbClr val="DC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48640" y="5294376"/>
            <a:ext cx="1841601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202124"/>
                </a:solidFill>
              </a:rPr>
              <a:t>Security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481681" y="5266944"/>
            <a:ext cx="3599078" cy="329184"/>
          </a:xfrm>
          <a:prstGeom prst="rect">
            <a:avLst/>
          </a:prstGeom>
          <a:solidFill>
            <a:srgbClr val="F9F6EE"/>
          </a:solidFill>
          <a:ln w="12700">
            <a:solidFill>
              <a:srgbClr val="DC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573121" y="5294376"/>
            <a:ext cx="341619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202124"/>
                </a:solidFill>
              </a:rPr>
              <a:t>Helmet + Rate Limiting + AES-256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080760" y="5266944"/>
            <a:ext cx="5623560" cy="329184"/>
          </a:xfrm>
          <a:prstGeom prst="rect">
            <a:avLst/>
          </a:prstGeom>
          <a:solidFill>
            <a:srgbClr val="F9F6EE"/>
          </a:solidFill>
          <a:ln w="12700">
            <a:solidFill>
              <a:srgbClr val="DC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172200" y="5294376"/>
            <a:ext cx="5440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202124"/>
                </a:solidFill>
              </a:rPr>
              <a:t>Production-grade headers, DDoS protection, E2E encryption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57200" y="5596128"/>
            <a:ext cx="2024481" cy="329184"/>
          </a:xfrm>
          <a:prstGeom prst="rect">
            <a:avLst/>
          </a:prstGeom>
          <a:solidFill>
            <a:srgbClr val="FFFCF5"/>
          </a:solidFill>
          <a:ln w="12700">
            <a:solidFill>
              <a:srgbClr val="DC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48640" y="5623560"/>
            <a:ext cx="1841601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202124"/>
                </a:solidFill>
              </a:rPr>
              <a:t>Monitoring</a:t>
            </a:r>
          </a:p>
        </p:txBody>
      </p:sp>
      <p:sp>
        <p:nvSpPr>
          <p:cNvPr id="85" name="Rectangle 84"/>
          <p:cNvSpPr/>
          <p:nvPr/>
        </p:nvSpPr>
        <p:spPr>
          <a:xfrm>
            <a:off x="2481681" y="5596128"/>
            <a:ext cx="3599078" cy="329184"/>
          </a:xfrm>
          <a:prstGeom prst="rect">
            <a:avLst/>
          </a:prstGeom>
          <a:solidFill>
            <a:srgbClr val="FFFCF5"/>
          </a:solidFill>
          <a:ln w="12700">
            <a:solidFill>
              <a:srgbClr val="DC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2573121" y="5623560"/>
            <a:ext cx="341619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202124"/>
                </a:solidFill>
              </a:rPr>
              <a:t>Sentry + Winston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080760" y="5596128"/>
            <a:ext cx="5623560" cy="329184"/>
          </a:xfrm>
          <a:prstGeom prst="rect">
            <a:avLst/>
          </a:prstGeom>
          <a:solidFill>
            <a:srgbClr val="FFFCF5"/>
          </a:solidFill>
          <a:ln w="12700">
            <a:solidFill>
              <a:srgbClr val="DC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172200" y="5623560"/>
            <a:ext cx="5440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202124"/>
                </a:solidFill>
              </a:rPr>
              <a:t>Error tracking, structured logging, PII filtering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57200" y="5925312"/>
            <a:ext cx="2024481" cy="329184"/>
          </a:xfrm>
          <a:prstGeom prst="rect">
            <a:avLst/>
          </a:prstGeom>
          <a:solidFill>
            <a:srgbClr val="F9F6EE"/>
          </a:solidFill>
          <a:ln w="12700">
            <a:solidFill>
              <a:srgbClr val="DC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48640" y="5952744"/>
            <a:ext cx="1841601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202124"/>
                </a:solidFill>
              </a:rPr>
              <a:t>Real-time</a:t>
            </a:r>
          </a:p>
        </p:txBody>
      </p:sp>
      <p:sp>
        <p:nvSpPr>
          <p:cNvPr id="91" name="Rectangle 90"/>
          <p:cNvSpPr/>
          <p:nvPr/>
        </p:nvSpPr>
        <p:spPr>
          <a:xfrm>
            <a:off x="2481681" y="5925312"/>
            <a:ext cx="3599078" cy="329184"/>
          </a:xfrm>
          <a:prstGeom prst="rect">
            <a:avLst/>
          </a:prstGeom>
          <a:solidFill>
            <a:srgbClr val="F9F6EE"/>
          </a:solidFill>
          <a:ln w="12700">
            <a:solidFill>
              <a:srgbClr val="DC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2573121" y="5952744"/>
            <a:ext cx="341619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202124"/>
                </a:solidFill>
              </a:rPr>
              <a:t>Firebase Realtime DB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080760" y="5925312"/>
            <a:ext cx="5623560" cy="329184"/>
          </a:xfrm>
          <a:prstGeom prst="rect">
            <a:avLst/>
          </a:prstGeom>
          <a:solidFill>
            <a:srgbClr val="F9F6EE"/>
          </a:solidFill>
          <a:ln w="12700">
            <a:solidFill>
              <a:srgbClr val="DC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172200" y="5952744"/>
            <a:ext cx="5440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202124"/>
                </a:solidFill>
              </a:rPr>
              <a:t>Cross-device sync, debounced updates, conflict resolution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57200" y="6254496"/>
            <a:ext cx="2024481" cy="329184"/>
          </a:xfrm>
          <a:prstGeom prst="rect">
            <a:avLst/>
          </a:prstGeom>
          <a:solidFill>
            <a:srgbClr val="FFFCF5"/>
          </a:solidFill>
          <a:ln w="12700">
            <a:solidFill>
              <a:srgbClr val="DC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548640" y="6281928"/>
            <a:ext cx="1841601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202124"/>
                </a:solidFill>
              </a:rPr>
              <a:t>Testing</a:t>
            </a:r>
          </a:p>
        </p:txBody>
      </p:sp>
      <p:sp>
        <p:nvSpPr>
          <p:cNvPr id="97" name="Rectangle 96"/>
          <p:cNvSpPr/>
          <p:nvPr/>
        </p:nvSpPr>
        <p:spPr>
          <a:xfrm>
            <a:off x="2481681" y="6254496"/>
            <a:ext cx="3599078" cy="329184"/>
          </a:xfrm>
          <a:prstGeom prst="rect">
            <a:avLst/>
          </a:prstGeom>
          <a:solidFill>
            <a:srgbClr val="FFFCF5"/>
          </a:solidFill>
          <a:ln w="12700">
            <a:solidFill>
              <a:srgbClr val="DC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2573121" y="6281928"/>
            <a:ext cx="341619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202124"/>
                </a:solidFill>
              </a:rPr>
              <a:t>Jest 30 + Testing Library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080760" y="6254496"/>
            <a:ext cx="5623560" cy="329184"/>
          </a:xfrm>
          <a:prstGeom prst="rect">
            <a:avLst/>
          </a:prstGeom>
          <a:solidFill>
            <a:srgbClr val="FFFCF5"/>
          </a:solidFill>
          <a:ln w="12700">
            <a:solidFill>
              <a:srgbClr val="DC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172200" y="6281928"/>
            <a:ext cx="5440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202124"/>
                </a:solidFill>
              </a:rPr>
              <a:t>Unit + component + API tests, pre-commit hooks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E6B65"/>
                </a:solidFill>
              </a:rPr>
              <a:t>7/15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497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Key Algorithms &amp; Innovations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What makes Vansh technically unique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5669280" cy="5303520"/>
          </a:xfrm>
          <a:prstGeom prst="roundRect">
            <a:avLst/>
          </a:prstGeom>
          <a:solidFill>
            <a:srgbClr val="FFFCF5"/>
          </a:solidFill>
          <a:ln w="12700">
            <a:solidFill>
              <a:srgbClr val="EBE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8C681A"/>
                </a:solidFill>
              </a:rPr>
              <a:t>🌳  Family Tree Layout (6-Phase Pipeline)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02124"/>
                </a:solidFill>
              </a:defRPr>
            </a:pPr>
            <a:r>
              <a:t>1. BFS Generation Assignment — Traverse from root, assign Y-levels</a:t>
            </a:r>
          </a:p>
          <a:p>
            <a:pPr>
              <a:spcAft>
                <a:spcPts val="400"/>
              </a:spcAft>
              <a:defRPr sz="1200">
                <a:solidFill>
                  <a:srgbClr val="202124"/>
                </a:solidFill>
              </a:defRPr>
            </a:pPr>
            <a:r>
              <a:t>2. Family Unit Pairing — Group spouses, collect their children</a:t>
            </a:r>
          </a:p>
          <a:p>
            <a:pPr>
              <a:spcAft>
                <a:spcPts val="400"/>
              </a:spcAft>
              <a:defRPr sz="1200">
                <a:solidFill>
                  <a:srgbClr val="202124"/>
                </a:solidFill>
              </a:defRPr>
            </a:pPr>
            <a:r>
              <a:t>3. Unit Graph Construction — Directed parent→child unit edges</a:t>
            </a:r>
          </a:p>
          <a:p>
            <a:pPr>
              <a:spcAft>
                <a:spcPts val="400"/>
              </a:spcAft>
              <a:defRPr sz="1200">
                <a:solidFill>
                  <a:srgbClr val="202124"/>
                </a:solidFill>
              </a:defRPr>
            </a:pPr>
            <a:r>
              <a:t>4. Bottom-Up Subtree Width — DFS with cycle detection</a:t>
            </a:r>
          </a:p>
          <a:p>
            <a:pPr>
              <a:spcAft>
                <a:spcPts val="400"/>
              </a:spcAft>
              <a:defRPr sz="1200">
                <a:solidFill>
                  <a:srgbClr val="202124"/>
                </a:solidFill>
              </a:defRPr>
            </a:pPr>
            <a:r>
              <a:t>5. Top-Down Position Assignment — Center children under parents</a:t>
            </a:r>
          </a:p>
          <a:p>
            <a:pPr>
              <a:spcAft>
                <a:spcPts val="400"/>
              </a:spcAft>
              <a:defRPr sz="1200">
                <a:solidFill>
                  <a:srgbClr val="202124"/>
                </a:solidFill>
              </a:defRPr>
            </a:pPr>
            <a:r>
              <a:t>6. Connector Generation — Orthogonal bracket-style lines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5760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8C681A"/>
                </a:solidFill>
              </a:rPr>
              <a:t>🔍  Relationship Resolution (BFS + Pattern Matching)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06908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02124"/>
                </a:solidFill>
              </a:defRPr>
            </a:pPr>
            <a:r>
              <a:t>BFS traversal up to depth 12 through adjacency list</a:t>
            </a:r>
          </a:p>
          <a:p>
            <a:pPr>
              <a:spcAft>
                <a:spcPts val="400"/>
              </a:spcAft>
              <a:defRPr sz="1200">
                <a:solidFill>
                  <a:srgbClr val="202124"/>
                </a:solidFill>
              </a:defRPr>
            </a:pPr>
            <a:r>
              <a:t>Edge sequences → 40+ Hindi kinship terms</a:t>
            </a:r>
          </a:p>
          <a:p>
            <a:pPr>
              <a:spcAft>
                <a:spcPts val="400"/>
              </a:spcAft>
              <a:defRPr sz="1200">
                <a:solidFill>
                  <a:srgbClr val="202124"/>
                </a:solidFill>
              </a:defRPr>
            </a:pPr>
            <a:r>
              <a:t>e.g. parent→spouse→parent = Sasur (ससुर, father-in-law)</a:t>
            </a:r>
          </a:p>
          <a:p>
            <a:pPr>
              <a:spcAft>
                <a:spcPts val="400"/>
              </a:spcAft>
              <a:defRPr sz="1200">
                <a:solidFill>
                  <a:srgbClr val="202124"/>
                </a:solidFill>
              </a:defRPr>
            </a:pPr>
            <a:r>
              <a:t>Generic fallback: '5x Great-Grandfather' for deep ancestry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280160"/>
            <a:ext cx="5303520" cy="2468880"/>
          </a:xfrm>
          <a:prstGeom prst="roundRect">
            <a:avLst/>
          </a:prstGeom>
          <a:solidFill>
            <a:srgbClr val="FFFCF5"/>
          </a:solidFill>
          <a:ln w="12700">
            <a:solidFill>
              <a:srgbClr val="EBE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37160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28B5E"/>
                </a:solidFill>
              </a:rPr>
              <a:t>⚡  Auto-Inference Engine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178308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02124"/>
                </a:solidFill>
              </a:defRPr>
            </a:pPr>
            <a:r>
              <a:t>Adding spouse → auto-links as parent to existing children</a:t>
            </a:r>
          </a:p>
          <a:p>
            <a:pPr>
              <a:spcAft>
                <a:spcPts val="400"/>
              </a:spcAft>
              <a:defRPr sz="1200">
                <a:solidFill>
                  <a:srgbClr val="202124"/>
                </a:solidFill>
              </a:defRPr>
            </a:pPr>
            <a:r>
              <a:t>Adding child → auto-creates sibling + co-parent spouse</a:t>
            </a:r>
          </a:p>
          <a:p>
            <a:pPr>
              <a:spcAft>
                <a:spcPts val="400"/>
              </a:spcAft>
              <a:defRPr sz="1200">
                <a:solidFill>
                  <a:srgbClr val="202124"/>
                </a:solidFill>
              </a:defRPr>
            </a:pPr>
            <a:r>
              <a:t>Reduces manual input by ~60%</a:t>
            </a:r>
          </a:p>
          <a:p>
            <a:pPr>
              <a:spcAft>
                <a:spcPts val="400"/>
              </a:spcAft>
              <a:defRPr sz="1200">
                <a:solidFill>
                  <a:srgbClr val="202124"/>
                </a:solidFill>
              </a:defRPr>
            </a:pPr>
            <a:r>
              <a:t>Transitive closure maintained automatically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3931920"/>
            <a:ext cx="5303520" cy="2651760"/>
          </a:xfrm>
          <a:prstGeom prst="roundRect">
            <a:avLst/>
          </a:prstGeom>
          <a:solidFill>
            <a:srgbClr val="FFFCF5"/>
          </a:solidFill>
          <a:ln w="12700">
            <a:solidFill>
              <a:srgbClr val="EBE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402336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962FF"/>
                </a:solidFill>
              </a:rPr>
              <a:t>💾  Offline-First Architecture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443484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02124"/>
                </a:solidFill>
              </a:defRPr>
            </a:pPr>
            <a:r>
              <a:t>SQLite sync queue: pending → processing → completed/failed</a:t>
            </a:r>
          </a:p>
          <a:p>
            <a:pPr>
              <a:spcAft>
                <a:spcPts val="400"/>
              </a:spcAft>
              <a:defRPr sz="1200">
                <a:solidFill>
                  <a:srgbClr val="202124"/>
                </a:solidFill>
              </a:defRPr>
            </a:pPr>
            <a:r>
              <a:t>executeOrQueue: tries online first, queues if no network</a:t>
            </a:r>
          </a:p>
          <a:p>
            <a:pPr>
              <a:spcAft>
                <a:spcPts val="400"/>
              </a:spcAft>
              <a:defRPr sz="1200">
                <a:solidFill>
                  <a:srgbClr val="202124"/>
                </a:solidFill>
              </a:defRPr>
            </a:pPr>
            <a:r>
              <a:t>Network polling every 5 sec, auto-sync on reconnect</a:t>
            </a:r>
          </a:p>
          <a:p>
            <a:pPr>
              <a:spcAft>
                <a:spcPts val="400"/>
              </a:spcAft>
              <a:defRPr sz="1200">
                <a:solidFill>
                  <a:srgbClr val="202124"/>
                </a:solidFill>
              </a:defRPr>
            </a:pPr>
            <a:r>
              <a:t>LRU cache with stale-while-revalidate (same as Vercel)</a:t>
            </a:r>
          </a:p>
          <a:p>
            <a:pPr>
              <a:spcAft>
                <a:spcPts val="400"/>
              </a:spcAft>
              <a:defRPr sz="1200">
                <a:solidFill>
                  <a:srgbClr val="202124"/>
                </a:solidFill>
              </a:defRPr>
            </a:pPr>
            <a:r>
              <a:t>5 cache namespaces with independent TTLs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E6B65"/>
                </a:solidFill>
              </a:rPr>
              <a:t>8/15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45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Security &amp; Privacy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Family data demands bank-level protection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11247120" cy="713232"/>
          </a:xfrm>
          <a:prstGeom prst="roundRect">
            <a:avLst/>
          </a:prstGeom>
          <a:solidFill>
            <a:srgbClr val="FFFCF5"/>
          </a:solidFill>
          <a:ln w="12700">
            <a:solidFill>
              <a:srgbClr val="EBE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73152" cy="713232"/>
          </a:xfrm>
          <a:prstGeom prst="rect">
            <a:avLst/>
          </a:prstGeom>
          <a:solidFill>
            <a:srgbClr val="C45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202124"/>
                </a:solidFill>
              </a:rPr>
              <a:t>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389888"/>
            <a:ext cx="10424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02124"/>
                </a:solidFill>
              </a:rPr>
              <a:t>Authentication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691640"/>
            <a:ext cx="1042416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E6B65"/>
                </a:solidFill>
              </a:rPr>
              <a:t>JWT access tokens + 30-day refresh tokens in DB. bcrypt 10-round password hashing.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057400"/>
            <a:ext cx="11247120" cy="713232"/>
          </a:xfrm>
          <a:prstGeom prst="roundRect">
            <a:avLst/>
          </a:prstGeom>
          <a:solidFill>
            <a:srgbClr val="FFFCF5"/>
          </a:solidFill>
          <a:ln w="12700">
            <a:solidFill>
              <a:srgbClr val="EBE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057400"/>
            <a:ext cx="73152" cy="713232"/>
          </a:xfrm>
          <a:prstGeom prst="rect">
            <a:avLst/>
          </a:prstGeom>
          <a:solidFill>
            <a:srgbClr val="B44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148840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202124"/>
                </a:solidFill>
              </a:rPr>
              <a:t>🛡️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167128"/>
            <a:ext cx="10424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02124"/>
                </a:solidFill>
              </a:rPr>
              <a:t>Transport Security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468880"/>
            <a:ext cx="1042416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E6B65"/>
                </a:solidFill>
              </a:rPr>
              <a:t>Helmet.js headers (CSP, HSTS, X-Frame-Options). CORS whitelist in production.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834639"/>
            <a:ext cx="11247120" cy="713232"/>
          </a:xfrm>
          <a:prstGeom prst="roundRect">
            <a:avLst/>
          </a:prstGeom>
          <a:solidFill>
            <a:srgbClr val="FFFCF5"/>
          </a:solidFill>
          <a:ln w="12700">
            <a:solidFill>
              <a:srgbClr val="EBE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2834639"/>
            <a:ext cx="73152" cy="713232"/>
          </a:xfrm>
          <a:prstGeom prst="rect">
            <a:avLst/>
          </a:prstGeom>
          <a:solidFill>
            <a:srgbClr val="A03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926079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202124"/>
                </a:solidFill>
              </a:rPr>
              <a:t>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2944367"/>
            <a:ext cx="10424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02124"/>
                </a:solidFill>
              </a:rPr>
              <a:t>Rate Limiting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246119"/>
            <a:ext cx="1042416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E6B65"/>
                </a:solidFill>
              </a:rPr>
              <a:t>4-tier protection: General (100/15min), Auth (5/15min), Sensitive (10/hr), Upload (20/hr).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611879"/>
            <a:ext cx="11247120" cy="713232"/>
          </a:xfrm>
          <a:prstGeom prst="roundRect">
            <a:avLst/>
          </a:prstGeom>
          <a:solidFill>
            <a:srgbClr val="FFFCF5"/>
          </a:solidFill>
          <a:ln w="12700">
            <a:solidFill>
              <a:srgbClr val="EBE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3611879"/>
            <a:ext cx="73152" cy="713232"/>
          </a:xfrm>
          <a:prstGeom prst="rect">
            <a:avLst/>
          </a:prstGeom>
          <a:solidFill>
            <a:srgbClr val="8C3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703319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202124"/>
                </a:solidFill>
              </a:rPr>
              <a:t>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3721607"/>
            <a:ext cx="10424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02124"/>
                </a:solidFill>
              </a:rPr>
              <a:t>Data Encryption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023359"/>
            <a:ext cx="1042416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E6B65"/>
                </a:solidFill>
              </a:rPr>
              <a:t>AES-256-GCM for family data. Separate encryption key for Vasiyat messages. expo-secure-store for keys.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389120"/>
            <a:ext cx="11247120" cy="713232"/>
          </a:xfrm>
          <a:prstGeom prst="roundRect">
            <a:avLst/>
          </a:prstGeom>
          <a:solidFill>
            <a:srgbClr val="FFFCF5"/>
          </a:solidFill>
          <a:ln w="12700">
            <a:solidFill>
              <a:srgbClr val="EBE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4389120"/>
            <a:ext cx="73152" cy="713232"/>
          </a:xfrm>
          <a:prstGeom prst="rect">
            <a:avLst/>
          </a:prstGeom>
          <a:solidFill>
            <a:srgbClr val="7828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480560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202124"/>
                </a:solidFill>
              </a:rPr>
              <a:t>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4498848"/>
            <a:ext cx="10424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02124"/>
                </a:solidFill>
              </a:rPr>
              <a:t>Multi-Tenancy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4800600"/>
            <a:ext cx="1042416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E6B65"/>
                </a:solidFill>
              </a:rPr>
              <a:t>Every DB query filtered by family_id. Users can NEVER access another family's data.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5166360"/>
            <a:ext cx="11247120" cy="713232"/>
          </a:xfrm>
          <a:prstGeom prst="roundRect">
            <a:avLst/>
          </a:prstGeom>
          <a:solidFill>
            <a:srgbClr val="FFFCF5"/>
          </a:solidFill>
          <a:ln w="12700">
            <a:solidFill>
              <a:srgbClr val="EBE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5166360"/>
            <a:ext cx="73152" cy="713232"/>
          </a:xfrm>
          <a:prstGeom prst="rect">
            <a:avLst/>
          </a:prstGeom>
          <a:solidFill>
            <a:srgbClr val="642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5257800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202124"/>
                </a:solidFill>
              </a:rPr>
              <a:t>🎭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" y="5276088"/>
            <a:ext cx="10424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02124"/>
                </a:solidFill>
              </a:rPr>
              <a:t>RBAC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5577840"/>
            <a:ext cx="1042416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E6B65"/>
                </a:solidFill>
              </a:rPr>
              <a:t>4 roles: Admin &gt; Elder &gt; Member &gt; Viewer. Endpoint-level permission checks.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5943600"/>
            <a:ext cx="11247120" cy="713232"/>
          </a:xfrm>
          <a:prstGeom prst="roundRect">
            <a:avLst/>
          </a:prstGeom>
          <a:solidFill>
            <a:srgbClr val="FFFCF5"/>
          </a:solidFill>
          <a:ln w="12700">
            <a:solidFill>
              <a:srgbClr val="EBE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57200" y="5943600"/>
            <a:ext cx="73152" cy="713232"/>
          </a:xfrm>
          <a:prstGeom prst="rect">
            <a:avLst/>
          </a:prstGeom>
          <a:solidFill>
            <a:srgbClr val="55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6035040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202124"/>
                </a:solidFill>
              </a:rPr>
              <a:t>📊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" y="6053328"/>
            <a:ext cx="10424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02124"/>
                </a:solidFill>
              </a:rPr>
              <a:t>Monitoring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" y="6355080"/>
            <a:ext cx="1042416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E6B65"/>
                </a:solidFill>
              </a:rPr>
              <a:t>Sentry error tracking with PII stripping. Winston structured logging with file rotation.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E6B65"/>
                </a:solidFill>
              </a:rPr>
              <a:t>9/15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497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AI-Powered Heritage (Gemini 1.5 Flash)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Making family heritage interactive and intelligent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486400" cy="1463040"/>
          </a:xfrm>
          <a:prstGeom prst="roundRect">
            <a:avLst/>
          </a:prstGeom>
          <a:solidFill>
            <a:srgbClr val="FFFCF5"/>
          </a:solidFill>
          <a:ln w="12700">
            <a:solidFill>
              <a:srgbClr val="EBE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73152" cy="1463040"/>
          </a:xfrm>
          <a:prstGeom prst="rect">
            <a:avLst/>
          </a:prstGeom>
          <a:solidFill>
            <a:srgbClr val="8C6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202124"/>
                </a:solidFill>
              </a:rPr>
              <a:t>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481328"/>
            <a:ext cx="4663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02124"/>
                </a:solidFill>
              </a:rPr>
              <a:t>Image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783080"/>
            <a:ext cx="466344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E6B65"/>
                </a:solidFill>
              </a:rPr>
              <a:t>Upload photo → Gemini extracts objects, people count, description, auto-tags. Enables smart search across decades of family photos.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486400" cy="1463040"/>
          </a:xfrm>
          <a:prstGeom prst="roundRect">
            <a:avLst/>
          </a:prstGeom>
          <a:solidFill>
            <a:srgbClr val="FFFCF5"/>
          </a:solidFill>
          <a:ln w="12700">
            <a:solidFill>
              <a:srgbClr val="EBE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73152" cy="1463040"/>
          </a:xfrm>
          <a:prstGeom prst="rect">
            <a:avLst/>
          </a:prstGeom>
          <a:solidFill>
            <a:srgbClr val="DA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463040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202124"/>
                </a:solidFill>
              </a:rPr>
              <a:t>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1481328"/>
            <a:ext cx="4663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02124"/>
                </a:solidFill>
              </a:rPr>
              <a:t>Era Detection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1783080"/>
            <a:ext cx="466344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E6B65"/>
                </a:solidFill>
              </a:rPr>
              <a:t>AI estimates photo decade from clothing styles, technology visible, and photo quality — auto-places in family timeline.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017520"/>
            <a:ext cx="5486400" cy="1463040"/>
          </a:xfrm>
          <a:prstGeom prst="roundRect">
            <a:avLst/>
          </a:prstGeom>
          <a:solidFill>
            <a:srgbClr val="FFFCF5"/>
          </a:solidFill>
          <a:ln w="12700">
            <a:solidFill>
              <a:srgbClr val="EBE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017520"/>
            <a:ext cx="73152" cy="146304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108960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202124"/>
                </a:solidFill>
              </a:rPr>
              <a:t>🎙️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127248"/>
            <a:ext cx="4663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02124"/>
                </a:solidFill>
              </a:rPr>
              <a:t>Transcription &amp; Summary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429000"/>
            <a:ext cx="466344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E6B65"/>
                </a:solidFill>
              </a:rPr>
              <a:t>Voice stories (Katha) → text transcript + AI-generated summary. Makes oral history searchable across generations.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017520"/>
            <a:ext cx="5486400" cy="1463040"/>
          </a:xfrm>
          <a:prstGeom prst="roundRect">
            <a:avLst/>
          </a:prstGeom>
          <a:solidFill>
            <a:srgbClr val="FFFCF5"/>
          </a:solidFill>
          <a:ln w="12700">
            <a:solidFill>
              <a:srgbClr val="EBE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3017520"/>
            <a:ext cx="73152" cy="1463040"/>
          </a:xfrm>
          <a:prstGeom prst="rect">
            <a:avLst/>
          </a:prstGeom>
          <a:solidFill>
            <a:srgbClr val="C46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3108960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202124"/>
                </a:solidFill>
              </a:rPr>
              <a:t>🗣️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3127248"/>
            <a:ext cx="4663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02124"/>
                </a:solidFill>
              </a:rPr>
              <a:t>Digital Echo (Planned)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3429000"/>
            <a:ext cx="466344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E6B65"/>
                </a:solidFill>
              </a:rPr>
              <a:t>RAG-based ancestor persona: bio + sample messages + relationships → AI speaks 'as your grandmother would have'. Explicit disclaimer.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663440"/>
            <a:ext cx="5486400" cy="1463040"/>
          </a:xfrm>
          <a:prstGeom prst="roundRect">
            <a:avLst/>
          </a:prstGeom>
          <a:solidFill>
            <a:srgbClr val="FFFCF5"/>
          </a:solidFill>
          <a:ln w="12700">
            <a:solidFill>
              <a:srgbClr val="EBE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4663440"/>
            <a:ext cx="73152" cy="1463040"/>
          </a:xfrm>
          <a:prstGeom prst="rect">
            <a:avLst/>
          </a:prstGeom>
          <a:solidFill>
            <a:srgbClr val="228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754880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202124"/>
                </a:solidFill>
              </a:rPr>
              <a:t>🍳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4773168"/>
            <a:ext cx="4663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02124"/>
                </a:solidFill>
              </a:rPr>
              <a:t>Recipe Generation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5074920"/>
            <a:ext cx="466344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E6B65"/>
                </a:solidFill>
              </a:rPr>
              <a:t>Input ingredients → AI generates traditional Indian cooking steps, preserving family recipe knowledge even from partial memories.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4663440"/>
            <a:ext cx="5486400" cy="1463040"/>
          </a:xfrm>
          <a:prstGeom prst="roundRect">
            <a:avLst/>
          </a:prstGeom>
          <a:solidFill>
            <a:srgbClr val="FFFCF5"/>
          </a:solidFill>
          <a:ln w="12700">
            <a:solidFill>
              <a:srgbClr val="EBE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17920" y="4663440"/>
            <a:ext cx="73152" cy="1463040"/>
          </a:xfrm>
          <a:prstGeom prst="rect">
            <a:avLst/>
          </a:prstGeom>
          <a:solidFill>
            <a:srgbClr val="C45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4754880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202124"/>
                </a:solidFill>
              </a:rPr>
              <a:t>🏷️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4773168"/>
            <a:ext cx="4663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02124"/>
                </a:solidFill>
              </a:rPr>
              <a:t>Smart Tagging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5074920"/>
            <a:ext cx="466344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E6B65"/>
                </a:solidFill>
              </a:rPr>
              <a:t>AI suggests culturally-relevant tags for content. Sentiment/emotion analysis on stories and messages.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E6B65"/>
                </a:solidFill>
              </a:rPr>
              <a:t>10/15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8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497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Design System: Digital Sanskriti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Every pixel inspired by Indian heritage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C49734"/>
                </a:solidFill>
              </a:rPr>
              <a:t>Sacred Color Palette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1188720" cy="640080"/>
          </a:xfrm>
          <a:prstGeom prst="roundRect">
            <a:avLst/>
          </a:prstGeom>
          <a:solidFill>
            <a:srgbClr val="C497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423160"/>
            <a:ext cx="1188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B4AFA5"/>
                </a:solidFill>
              </a:rPr>
              <a:t>Suvarna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06040"/>
            <a:ext cx="11887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6E6B65"/>
                </a:solidFill>
              </a:rPr>
              <a:t>Temple Gold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11680" y="1737360"/>
            <a:ext cx="1188720" cy="640080"/>
          </a:xfrm>
          <a:prstGeom prst="roundRect">
            <a:avLst/>
          </a:prstGeom>
          <a:solidFill>
            <a:srgbClr val="C45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11680" y="2423160"/>
            <a:ext cx="1188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B4AFA5"/>
                </a:solidFill>
              </a:rPr>
              <a:t>Sindoor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2606040"/>
            <a:ext cx="11887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6E6B65"/>
                </a:solidFill>
              </a:rPr>
              <a:t>Vermilion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1737360"/>
            <a:ext cx="1188720" cy="640080"/>
          </a:xfrm>
          <a:prstGeom prst="roundRect">
            <a:avLst/>
          </a:prstGeom>
          <a:solidFill>
            <a:srgbClr val="C46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0" y="2423160"/>
            <a:ext cx="1188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B4AFA5"/>
                </a:solidFill>
              </a:rPr>
              <a:t>Padma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606040"/>
            <a:ext cx="11887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6E6B65"/>
                </a:solidFill>
              </a:rPr>
              <a:t>Lotus Pink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54880" y="1737360"/>
            <a:ext cx="1188720" cy="640080"/>
          </a:xfrm>
          <a:prstGeom prst="roundRect">
            <a:avLst/>
          </a:prstGeom>
          <a:solidFill>
            <a:srgbClr val="DA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0" y="2423160"/>
            <a:ext cx="1188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B4AFA5"/>
                </a:solidFill>
              </a:rPr>
              <a:t>Haldi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2606040"/>
            <a:ext cx="11887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6E6B65"/>
                </a:solidFill>
              </a:rPr>
              <a:t>Turmeric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2926080"/>
            <a:ext cx="1188720" cy="640080"/>
          </a:xfrm>
          <a:prstGeom prst="round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611880"/>
            <a:ext cx="1188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B4AFA5"/>
                </a:solidFill>
              </a:rPr>
              <a:t>Neelam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794760"/>
            <a:ext cx="11887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6E6B65"/>
                </a:solidFill>
              </a:rPr>
              <a:t>Sapphire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011680" y="2926080"/>
            <a:ext cx="1188720" cy="640080"/>
          </a:xfrm>
          <a:prstGeom prst="roundRect">
            <a:avLst/>
          </a:prstGeom>
          <a:solidFill>
            <a:srgbClr val="228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11680" y="3611880"/>
            <a:ext cx="1188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B4AFA5"/>
                </a:solidFill>
              </a:rPr>
              <a:t>Panna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0" y="3794760"/>
            <a:ext cx="11887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6E6B65"/>
                </a:solidFill>
              </a:rPr>
              <a:t>Emerald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83280" y="2926080"/>
            <a:ext cx="1188720" cy="640080"/>
          </a:xfrm>
          <a:prstGeom prst="roundRect">
            <a:avLst/>
          </a:prstGeom>
          <a:solidFill>
            <a:srgbClr val="F9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83280" y="3611880"/>
            <a:ext cx="1188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B4AFA5"/>
                </a:solidFill>
              </a:rPr>
              <a:t>Khadi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83280" y="3794760"/>
            <a:ext cx="11887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6E6B65"/>
                </a:solidFill>
              </a:rPr>
              <a:t>Aged Paper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0" y="2926080"/>
            <a:ext cx="1188720" cy="640080"/>
          </a:xfrm>
          <a:prstGeom prst="roundRect">
            <a:avLst/>
          </a:prstGeom>
          <a:solidFill>
            <a:srgbClr val="3C3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54880" y="3611880"/>
            <a:ext cx="1188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B4AFA5"/>
                </a:solidFill>
              </a:rPr>
              <a:t>Masi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0" y="3794760"/>
            <a:ext cx="11887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6E6B65"/>
                </a:solidFill>
              </a:rPr>
              <a:t>Charcoal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438912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C49734"/>
                </a:solidFill>
              </a:rPr>
              <a:t>Typography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80060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8C3B9"/>
                </a:solidFill>
              </a:defRPr>
            </a:pPr>
            <a:r>
              <a:t>Major Third scale (1.25 ratio): 10px → 60px</a:t>
            </a:r>
          </a:p>
          <a:p>
            <a:pPr>
              <a:spcAft>
                <a:spcPts val="400"/>
              </a:spcAft>
              <a:defRPr sz="1300">
                <a:solidFill>
                  <a:srgbClr val="C8C3B9"/>
                </a:solidFill>
              </a:defRPr>
            </a:pPr>
            <a:r>
              <a:t>Serif fonts: Georgia (iOS), Noto Serif (Web)</a:t>
            </a:r>
          </a:p>
          <a:p>
            <a:pPr>
              <a:spcAft>
                <a:spcPts val="400"/>
              </a:spcAft>
              <a:defRPr sz="1300">
                <a:solidFill>
                  <a:srgbClr val="C8C3B9"/>
                </a:solidFill>
              </a:defRPr>
            </a:pPr>
            <a:r>
              <a:t>Full Devanagari script support</a:t>
            </a:r>
          </a:p>
          <a:p>
            <a:pPr>
              <a:spcAft>
                <a:spcPts val="400"/>
              </a:spcAft>
              <a:defRPr sz="1300">
                <a:solidFill>
                  <a:srgbClr val="C8C3B9"/>
                </a:solidFill>
              </a:defRPr>
            </a:pPr>
            <a:r>
              <a:t>Handwritten style for personal notes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C49734"/>
                </a:solidFill>
              </a:rPr>
              <a:t>"Digital Silk" Motion System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7920" y="1737360"/>
            <a:ext cx="5303520" cy="411480"/>
          </a:xfrm>
          <a:prstGeom prst="roundRect">
            <a:avLst/>
          </a:prstGeom>
          <a:solidFill>
            <a:srgbClr val="3735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178308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49734"/>
                </a:solidFill>
              </a:rPr>
              <a:t>silk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80960" y="178308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AA59B"/>
                </a:solidFill>
              </a:rPr>
              <a:t>Default transitions — smooth, luxurious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7920" y="2240280"/>
            <a:ext cx="5303520" cy="411480"/>
          </a:xfrm>
          <a:prstGeom prst="roundRect">
            <a:avLst/>
          </a:prstGeom>
          <a:solidFill>
            <a:srgbClr val="3735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0" y="228600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49734"/>
                </a:solidFill>
              </a:rPr>
              <a:t>water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80960" y="228600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AA59B"/>
                </a:solidFill>
              </a:rPr>
              <a:t>Flowing list animations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17920" y="2743200"/>
            <a:ext cx="5303520" cy="411480"/>
          </a:xfrm>
          <a:prstGeom prst="roundRect">
            <a:avLst/>
          </a:prstGeom>
          <a:solidFill>
            <a:srgbClr val="3735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0" y="278892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49734"/>
                </a:solidFill>
              </a:rPr>
              <a:t>pageFlip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80960" y="278892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AA59B"/>
                </a:solidFill>
              </a:rPr>
              <a:t>Card/page transitions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17920" y="3246120"/>
            <a:ext cx="5303520" cy="411480"/>
          </a:xfrm>
          <a:prstGeom prst="roundRect">
            <a:avLst/>
          </a:prstGeom>
          <a:solidFill>
            <a:srgbClr val="3735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0" y="329184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49734"/>
                </a:solidFill>
              </a:rPr>
              <a:t>heartbeat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80960" y="329184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AA59B"/>
                </a:solidFill>
              </a:rPr>
              <a:t>Pulse effects on selection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17920" y="3749039"/>
            <a:ext cx="5303520" cy="411480"/>
          </a:xfrm>
          <a:prstGeom prst="roundRect">
            <a:avLst/>
          </a:prstGeom>
          <a:solidFill>
            <a:srgbClr val="3735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0800" y="379476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49734"/>
                </a:solidFill>
              </a:rPr>
              <a:t>dramatic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80960" y="379476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AA59B"/>
                </a:solidFill>
              </a:rPr>
              <a:t>Emphasis animations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217920" y="4251960"/>
            <a:ext cx="5303520" cy="411480"/>
          </a:xfrm>
          <a:prstGeom prst="roundRect">
            <a:avLst/>
          </a:prstGeom>
          <a:solidFill>
            <a:srgbClr val="3735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00800" y="429768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49734"/>
                </a:solidFill>
              </a:rPr>
              <a:t>bounce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80960" y="429768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AA59B"/>
                </a:solidFill>
              </a:rPr>
              <a:t>Playful micro-interactions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217920" y="4754880"/>
            <a:ext cx="5303520" cy="411480"/>
          </a:xfrm>
          <a:prstGeom prst="roundRect">
            <a:avLst/>
          </a:prstGeom>
          <a:solidFill>
            <a:srgbClr val="3735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00800" y="480060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49734"/>
                </a:solidFill>
              </a:rPr>
              <a:t>enter / exit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680960" y="480060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AA59B"/>
                </a:solidFill>
              </a:rPr>
              <a:t>Mount/unmount transitions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17920" y="530352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C49734"/>
                </a:solidFill>
              </a:rPr>
              <a:t>Spacing &amp; Layout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17920" y="571500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8C3B9"/>
                </a:solidFill>
              </a:defRPr>
            </a:pPr>
            <a:r>
              <a:t>Golden Ratio-inspired from 4px base unit</a:t>
            </a:r>
          </a:p>
          <a:p>
            <a:pPr>
              <a:spcAft>
                <a:spcPts val="400"/>
              </a:spcAft>
              <a:defRPr sz="1300">
                <a:solidFill>
                  <a:srgbClr val="C8C3B9"/>
                </a:solidFill>
              </a:defRPr>
            </a:pPr>
            <a:r>
              <a:t>Gesture: pinch-zoom + pan + double-tap + haptics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E6B65"/>
                </a:solidFill>
              </a:rPr>
              <a:t>11/15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28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Market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A massive, growing, underserved market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3657600" cy="960120"/>
          </a:xfrm>
          <a:prstGeom prst="roundRect">
            <a:avLst/>
          </a:prstGeom>
          <a:solidFill>
            <a:srgbClr val="228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3291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$8.2B by 2030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01952"/>
            <a:ext cx="3291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Global Genealogy Market (CAGR ~10%)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371600"/>
            <a:ext cx="3657600" cy="960120"/>
          </a:xfrm>
          <a:prstGeom prst="roundRect">
            <a:avLst/>
          </a:prstGeom>
          <a:solidFill>
            <a:srgbClr val="8C6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463040"/>
            <a:ext cx="3291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300M+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1901952"/>
            <a:ext cx="3291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Indian Households (Primary Market)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371600"/>
            <a:ext cx="3657600" cy="960120"/>
          </a:xfrm>
          <a:prstGeom prst="round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463040"/>
            <a:ext cx="3291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750M+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1901952"/>
            <a:ext cx="3291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Indian Smartphone Users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651760"/>
            <a:ext cx="5486400" cy="3931920"/>
          </a:xfrm>
          <a:prstGeom prst="roundRect">
            <a:avLst/>
          </a:prstGeom>
          <a:solidFill>
            <a:srgbClr val="FFFCF5"/>
          </a:solidFill>
          <a:ln w="12700">
            <a:solidFill>
              <a:srgbClr val="EBE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74320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28B5E"/>
                </a:solidFill>
              </a:rPr>
              <a:t>Why Now?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200400"/>
            <a:ext cx="51206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202124"/>
                </a:solidFill>
              </a:defRPr>
            </a:pPr>
            <a:r>
              <a:t>📱  India crossed 800M smartphone users — mobile-first era</a:t>
            </a:r>
          </a:p>
          <a:p>
            <a:pPr>
              <a:spcAft>
                <a:spcPts val="500"/>
              </a:spcAft>
              <a:defRPr sz="1300">
                <a:solidFill>
                  <a:srgbClr val="202124"/>
                </a:solidFill>
              </a:defRPr>
            </a:pPr>
            <a:r>
              <a:t>🏠  Nuclear family trend → heritage loss accelerating</a:t>
            </a:r>
          </a:p>
          <a:p>
            <a:pPr>
              <a:spcAft>
                <a:spcPts val="500"/>
              </a:spcAft>
              <a:defRPr sz="1300">
                <a:solidFill>
                  <a:srgbClr val="202124"/>
                </a:solidFill>
              </a:defRPr>
            </a:pPr>
            <a:r>
              <a:t>😢  Post-COVID nostalgia driving cultural preservation interest</a:t>
            </a:r>
          </a:p>
          <a:p>
            <a:pPr>
              <a:spcAft>
                <a:spcPts val="500"/>
              </a:spcAft>
              <a:defRPr sz="1300">
                <a:solidFill>
                  <a:srgbClr val="202124"/>
                </a:solidFill>
              </a:defRPr>
            </a:pPr>
            <a:r>
              <a:t>🤖  AI (Gemini) makes photo analysis + persona chat viable at low cost</a:t>
            </a:r>
          </a:p>
          <a:p>
            <a:pPr>
              <a:spcAft>
                <a:spcPts val="500"/>
              </a:spcAft>
              <a:defRPr sz="1300">
                <a:solidFill>
                  <a:srgbClr val="202124"/>
                </a:solidFill>
              </a:defRPr>
            </a:pPr>
            <a:r>
              <a:t>💳  UPI + digital payments enable micro-subscriptions in India</a:t>
            </a:r>
          </a:p>
          <a:p>
            <a:pPr>
              <a:spcAft>
                <a:spcPts val="500"/>
              </a:spcAft>
              <a:defRPr sz="1300">
                <a:solidFill>
                  <a:srgbClr val="202124"/>
                </a:solidFill>
              </a:defRPr>
            </a:pPr>
            <a:r>
              <a:t>🌍  32M+ Indian diaspora seeking cultural roots</a:t>
            </a:r>
          </a:p>
          <a:p>
            <a:pPr>
              <a:spcAft>
                <a:spcPts val="500"/>
              </a:spcAft>
              <a:defRPr sz="1300">
                <a:solidFill>
                  <a:srgbClr val="202124"/>
                </a:solidFill>
              </a:defRPr>
            </a:pPr>
            <a:r>
              <a:t>📵  No competitor addresses Indian families specifically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2651760"/>
            <a:ext cx="5486400" cy="3931920"/>
          </a:xfrm>
          <a:prstGeom prst="roundRect">
            <a:avLst/>
          </a:prstGeom>
          <a:solidFill>
            <a:srgbClr val="FFFCF5"/>
          </a:solidFill>
          <a:ln w="12700">
            <a:solidFill>
              <a:srgbClr val="EBE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74320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8C681A"/>
                </a:solidFill>
              </a:rPr>
              <a:t>Target Segments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200400"/>
            <a:ext cx="5120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02124"/>
                </a:solidFill>
              </a:rPr>
              <a:t>🎯 Primary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47472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E6B65"/>
                </a:solidFill>
              </a:rPr>
              <a:t>Indian families (urban + semi-urban) — 300M+ households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023360"/>
            <a:ext cx="5120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02124"/>
                </a:solidFill>
              </a:rPr>
              <a:t>🌍 Secondary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29768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E6B65"/>
                </a:solidFill>
              </a:rPr>
              <a:t>Indian diaspora — 32M+ across 150 countries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846320"/>
            <a:ext cx="5120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02124"/>
                </a:solidFill>
              </a:rPr>
              <a:t>👴 Early Adopters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512064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E6B65"/>
                </a:solidFill>
              </a:rPr>
              <a:t>Tech-savvy millennials who value family heritage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5669280"/>
            <a:ext cx="5120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02124"/>
                </a:solidFill>
              </a:rPr>
              <a:t>🏛️ Institutional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94360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E6B65"/>
                </a:solidFill>
              </a:rPr>
              <a:t>Cultural organizations, heritage foundations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E6B65"/>
                </a:solidFill>
              </a:rPr>
              <a:t>12/15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45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Competitive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No direct competitor in the Indian heritage space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80160"/>
            <a:ext cx="2322576" cy="365760"/>
          </a:xfrm>
          <a:prstGeom prst="rect">
            <a:avLst/>
          </a:prstGeom>
          <a:solidFill>
            <a:srgbClr val="8C681A"/>
          </a:solidFill>
          <a:ln w="12700">
            <a:solidFill>
              <a:srgbClr val="DC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307592"/>
            <a:ext cx="213969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Feature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2596896" y="1280160"/>
            <a:ext cx="1858060" cy="365760"/>
          </a:xfrm>
          <a:prstGeom prst="rect">
            <a:avLst/>
          </a:prstGeom>
          <a:solidFill>
            <a:srgbClr val="8C681A"/>
          </a:solidFill>
          <a:ln w="12700">
            <a:solidFill>
              <a:srgbClr val="DC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88336" y="1307592"/>
            <a:ext cx="16751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Ancestry.com</a:t>
            </a:r>
          </a:p>
        </p:txBody>
      </p:sp>
      <p:sp>
        <p:nvSpPr>
          <p:cNvPr id="9" name="Rectangle 8"/>
          <p:cNvSpPr/>
          <p:nvPr/>
        </p:nvSpPr>
        <p:spPr>
          <a:xfrm>
            <a:off x="4454956" y="1280160"/>
            <a:ext cx="1858060" cy="365760"/>
          </a:xfrm>
          <a:prstGeom prst="rect">
            <a:avLst/>
          </a:prstGeom>
          <a:solidFill>
            <a:srgbClr val="8C681A"/>
          </a:solidFill>
          <a:ln w="12700">
            <a:solidFill>
              <a:srgbClr val="DC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46396" y="1307592"/>
            <a:ext cx="16751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MyHeritage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13017" y="1280160"/>
            <a:ext cx="1858060" cy="365760"/>
          </a:xfrm>
          <a:prstGeom prst="rect">
            <a:avLst/>
          </a:prstGeom>
          <a:solidFill>
            <a:srgbClr val="8C681A"/>
          </a:solidFill>
          <a:ln w="12700">
            <a:solidFill>
              <a:srgbClr val="DC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4457" y="1307592"/>
            <a:ext cx="16751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FamilySearch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71078" y="1280160"/>
            <a:ext cx="1858060" cy="365760"/>
          </a:xfrm>
          <a:prstGeom prst="rect">
            <a:avLst/>
          </a:prstGeom>
          <a:solidFill>
            <a:srgbClr val="8C681A"/>
          </a:solidFill>
          <a:ln w="12700">
            <a:solidFill>
              <a:srgbClr val="DC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62518" y="1307592"/>
            <a:ext cx="16751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WhatsApp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29139" y="1280160"/>
            <a:ext cx="1858060" cy="365760"/>
          </a:xfrm>
          <a:prstGeom prst="rect">
            <a:avLst/>
          </a:prstGeom>
          <a:solidFill>
            <a:srgbClr val="8C681A"/>
          </a:solidFill>
          <a:ln w="12700">
            <a:solidFill>
              <a:srgbClr val="DC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120579" y="1307592"/>
            <a:ext cx="16751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Vansh 🪷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1645920"/>
            <a:ext cx="2322576" cy="320040"/>
          </a:xfrm>
          <a:prstGeom prst="rect">
            <a:avLst/>
          </a:prstGeom>
          <a:solidFill>
            <a:srgbClr val="FFFCF5"/>
          </a:solidFill>
          <a:ln w="12700">
            <a:solidFill>
              <a:srgbClr val="DC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1673352"/>
            <a:ext cx="2139696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202124"/>
                </a:solidFill>
              </a:rPr>
              <a:t>Family Tree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596896" y="1645920"/>
            <a:ext cx="1858060" cy="320040"/>
          </a:xfrm>
          <a:prstGeom prst="rect">
            <a:avLst/>
          </a:prstGeom>
          <a:solidFill>
            <a:srgbClr val="FFFCF5"/>
          </a:solidFill>
          <a:ln w="12700">
            <a:solidFill>
              <a:srgbClr val="DC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688336" y="1673352"/>
            <a:ext cx="1675180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202124"/>
                </a:solidFill>
              </a:rPr>
              <a:t>✅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54956" y="1645920"/>
            <a:ext cx="1858060" cy="320040"/>
          </a:xfrm>
          <a:prstGeom prst="rect">
            <a:avLst/>
          </a:prstGeom>
          <a:solidFill>
            <a:srgbClr val="FFFCF5"/>
          </a:solidFill>
          <a:ln w="12700">
            <a:solidFill>
              <a:srgbClr val="DC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46396" y="1673352"/>
            <a:ext cx="1675180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202124"/>
                </a:solidFill>
              </a:rPr>
              <a:t>✅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13017" y="1645920"/>
            <a:ext cx="1858060" cy="320040"/>
          </a:xfrm>
          <a:prstGeom prst="rect">
            <a:avLst/>
          </a:prstGeom>
          <a:solidFill>
            <a:srgbClr val="FFFCF5"/>
          </a:solidFill>
          <a:ln w="12700">
            <a:solidFill>
              <a:srgbClr val="DC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4457" y="1673352"/>
            <a:ext cx="1675180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202124"/>
                </a:solidFill>
              </a:rPr>
              <a:t>✅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71078" y="1645920"/>
            <a:ext cx="1858060" cy="320040"/>
          </a:xfrm>
          <a:prstGeom prst="rect">
            <a:avLst/>
          </a:prstGeom>
          <a:solidFill>
            <a:srgbClr val="FFFCF5"/>
          </a:solidFill>
          <a:ln w="12700">
            <a:solidFill>
              <a:srgbClr val="DC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62518" y="1673352"/>
            <a:ext cx="1675180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202124"/>
                </a:solidFill>
              </a:rPr>
              <a:t>❌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029139" y="1645920"/>
            <a:ext cx="1858060" cy="320040"/>
          </a:xfrm>
          <a:prstGeom prst="rect">
            <a:avLst/>
          </a:prstGeom>
          <a:solidFill>
            <a:srgbClr val="FFFCF5"/>
          </a:solidFill>
          <a:ln w="12700">
            <a:solidFill>
              <a:srgbClr val="DC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120579" y="1673352"/>
            <a:ext cx="1675180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202124"/>
                </a:solidFill>
              </a:rPr>
              <a:t>✅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1965960"/>
            <a:ext cx="2322576" cy="320040"/>
          </a:xfrm>
          <a:prstGeom prst="rect">
            <a:avLst/>
          </a:prstGeom>
          <a:solidFill>
            <a:srgbClr val="F9F6EE"/>
          </a:solidFill>
          <a:ln w="12700">
            <a:solidFill>
              <a:srgbClr val="DC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1993392"/>
            <a:ext cx="2139696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202124"/>
                </a:solidFill>
              </a:rPr>
              <a:t>Indian Kinship Terms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596896" y="1965960"/>
            <a:ext cx="1858060" cy="320040"/>
          </a:xfrm>
          <a:prstGeom prst="rect">
            <a:avLst/>
          </a:prstGeom>
          <a:solidFill>
            <a:srgbClr val="F9F6EE"/>
          </a:solidFill>
          <a:ln w="12700">
            <a:solidFill>
              <a:srgbClr val="DC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688336" y="1993392"/>
            <a:ext cx="1675180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202124"/>
                </a:solidFill>
              </a:rPr>
              <a:t>❌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454956" y="1965960"/>
            <a:ext cx="1858060" cy="320040"/>
          </a:xfrm>
          <a:prstGeom prst="rect">
            <a:avLst/>
          </a:prstGeom>
          <a:solidFill>
            <a:srgbClr val="F9F6EE"/>
          </a:solidFill>
          <a:ln w="12700">
            <a:solidFill>
              <a:srgbClr val="DC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46396" y="1993392"/>
            <a:ext cx="1675180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202124"/>
                </a:solidFill>
              </a:rPr>
              <a:t>❌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13017" y="1965960"/>
            <a:ext cx="1858060" cy="320040"/>
          </a:xfrm>
          <a:prstGeom prst="rect">
            <a:avLst/>
          </a:prstGeom>
          <a:solidFill>
            <a:srgbClr val="F9F6EE"/>
          </a:solidFill>
          <a:ln w="12700">
            <a:solidFill>
              <a:srgbClr val="DC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4457" y="1993392"/>
            <a:ext cx="1675180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202124"/>
                </a:solidFill>
              </a:rPr>
              <a:t>❌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171078" y="1965960"/>
            <a:ext cx="1858060" cy="320040"/>
          </a:xfrm>
          <a:prstGeom prst="rect">
            <a:avLst/>
          </a:prstGeom>
          <a:solidFill>
            <a:srgbClr val="F9F6EE"/>
          </a:solidFill>
          <a:ln w="12700">
            <a:solidFill>
              <a:srgbClr val="DC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62518" y="1993392"/>
            <a:ext cx="1675180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202124"/>
                </a:solidFill>
              </a:rPr>
              <a:t>❌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029139" y="1965960"/>
            <a:ext cx="1858060" cy="320040"/>
          </a:xfrm>
          <a:prstGeom prst="rect">
            <a:avLst/>
          </a:prstGeom>
          <a:solidFill>
            <a:srgbClr val="F9F6EE"/>
          </a:solidFill>
          <a:ln w="12700">
            <a:solidFill>
              <a:srgbClr val="DC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120579" y="1993392"/>
            <a:ext cx="1675180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202124"/>
                </a:solidFill>
              </a:rPr>
              <a:t>✅ 40+ terms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2286000"/>
            <a:ext cx="2322576" cy="320040"/>
          </a:xfrm>
          <a:prstGeom prst="rect">
            <a:avLst/>
          </a:prstGeom>
          <a:solidFill>
            <a:srgbClr val="FFFCF5"/>
          </a:solidFill>
          <a:ln w="12700">
            <a:solidFill>
              <a:srgbClr val="DC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5760" y="2313432"/>
            <a:ext cx="2139696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202124"/>
                </a:solidFill>
              </a:rPr>
              <a:t>Voice Stories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596896" y="2286000"/>
            <a:ext cx="1858060" cy="320040"/>
          </a:xfrm>
          <a:prstGeom prst="rect">
            <a:avLst/>
          </a:prstGeom>
          <a:solidFill>
            <a:srgbClr val="FFFCF5"/>
          </a:solidFill>
          <a:ln w="12700">
            <a:solidFill>
              <a:srgbClr val="DC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688336" y="2313432"/>
            <a:ext cx="1675180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202124"/>
                </a:solidFill>
              </a:rPr>
              <a:t>❌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454956" y="2286000"/>
            <a:ext cx="1858060" cy="320040"/>
          </a:xfrm>
          <a:prstGeom prst="rect">
            <a:avLst/>
          </a:prstGeom>
          <a:solidFill>
            <a:srgbClr val="FFFCF5"/>
          </a:solidFill>
          <a:ln w="12700">
            <a:solidFill>
              <a:srgbClr val="DC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46396" y="2313432"/>
            <a:ext cx="1675180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202124"/>
                </a:solidFill>
              </a:rPr>
              <a:t>❌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313017" y="2286000"/>
            <a:ext cx="1858060" cy="320040"/>
          </a:xfrm>
          <a:prstGeom prst="rect">
            <a:avLst/>
          </a:prstGeom>
          <a:solidFill>
            <a:srgbClr val="FFFCF5"/>
          </a:solidFill>
          <a:ln w="12700">
            <a:solidFill>
              <a:srgbClr val="DC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4457" y="2313432"/>
            <a:ext cx="1675180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202124"/>
                </a:solidFill>
              </a:rPr>
              <a:t>❌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171078" y="2286000"/>
            <a:ext cx="1858060" cy="320040"/>
          </a:xfrm>
          <a:prstGeom prst="rect">
            <a:avLst/>
          </a:prstGeom>
          <a:solidFill>
            <a:srgbClr val="FFFCF5"/>
          </a:solidFill>
          <a:ln w="12700">
            <a:solidFill>
              <a:srgbClr val="DC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262518" y="2313432"/>
            <a:ext cx="1675180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202124"/>
                </a:solidFill>
              </a:rPr>
              <a:t>❌ (audio msg)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029139" y="2286000"/>
            <a:ext cx="1858060" cy="320040"/>
          </a:xfrm>
          <a:prstGeom prst="rect">
            <a:avLst/>
          </a:prstGeom>
          <a:solidFill>
            <a:srgbClr val="FFFCF5"/>
          </a:solidFill>
          <a:ln w="12700">
            <a:solidFill>
              <a:srgbClr val="DC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120579" y="2313432"/>
            <a:ext cx="1675180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202124"/>
                </a:solidFill>
              </a:rPr>
              <a:t>✅ + Transcript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74320" y="2606039"/>
            <a:ext cx="2322576" cy="320040"/>
          </a:xfrm>
          <a:prstGeom prst="rect">
            <a:avLst/>
          </a:prstGeom>
          <a:solidFill>
            <a:srgbClr val="F9F6EE"/>
          </a:solidFill>
          <a:ln w="12700">
            <a:solidFill>
              <a:srgbClr val="DC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65760" y="2633471"/>
            <a:ext cx="2139696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202124"/>
                </a:solidFill>
              </a:rPr>
              <a:t>Photo Memories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596896" y="2606039"/>
            <a:ext cx="1858060" cy="320040"/>
          </a:xfrm>
          <a:prstGeom prst="rect">
            <a:avLst/>
          </a:prstGeom>
          <a:solidFill>
            <a:srgbClr val="F9F6EE"/>
          </a:solidFill>
          <a:ln w="12700">
            <a:solidFill>
              <a:srgbClr val="DC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688336" y="2633471"/>
            <a:ext cx="1675180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202124"/>
                </a:solidFill>
              </a:rPr>
              <a:t>✅ (basic)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454956" y="2606039"/>
            <a:ext cx="1858060" cy="320040"/>
          </a:xfrm>
          <a:prstGeom prst="rect">
            <a:avLst/>
          </a:prstGeom>
          <a:solidFill>
            <a:srgbClr val="F9F6EE"/>
          </a:solidFill>
          <a:ln w="12700">
            <a:solidFill>
              <a:srgbClr val="DC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546396" y="2633471"/>
            <a:ext cx="1675180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202124"/>
                </a:solidFill>
              </a:rPr>
              <a:t>✅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313017" y="2606039"/>
            <a:ext cx="1858060" cy="320040"/>
          </a:xfrm>
          <a:prstGeom prst="rect">
            <a:avLst/>
          </a:prstGeom>
          <a:solidFill>
            <a:srgbClr val="F9F6EE"/>
          </a:solidFill>
          <a:ln w="12700">
            <a:solidFill>
              <a:srgbClr val="DC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04457" y="2633471"/>
            <a:ext cx="1675180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202124"/>
                </a:solidFill>
              </a:rPr>
              <a:t>✅ (basic)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171078" y="2606039"/>
            <a:ext cx="1858060" cy="320040"/>
          </a:xfrm>
          <a:prstGeom prst="rect">
            <a:avLst/>
          </a:prstGeom>
          <a:solidFill>
            <a:srgbClr val="F9F6EE"/>
          </a:solidFill>
          <a:ln w="12700">
            <a:solidFill>
              <a:srgbClr val="DC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262518" y="2633471"/>
            <a:ext cx="1675180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202124"/>
                </a:solidFill>
              </a:rPr>
              <a:t>✅ (no context)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0029139" y="2606039"/>
            <a:ext cx="1858060" cy="320040"/>
          </a:xfrm>
          <a:prstGeom prst="rect">
            <a:avLst/>
          </a:prstGeom>
          <a:solidFill>
            <a:srgbClr val="F9F6EE"/>
          </a:solidFill>
          <a:ln w="12700">
            <a:solidFill>
              <a:srgbClr val="DC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120579" y="2633471"/>
            <a:ext cx="1675180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202124"/>
                </a:solidFill>
              </a:rPr>
              <a:t>✅ + AI Tags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74320" y="2926080"/>
            <a:ext cx="2322576" cy="320040"/>
          </a:xfrm>
          <a:prstGeom prst="rect">
            <a:avLst/>
          </a:prstGeom>
          <a:solidFill>
            <a:srgbClr val="FFFCF5"/>
          </a:solidFill>
          <a:ln w="12700">
            <a:solidFill>
              <a:srgbClr val="DC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65760" y="2953512"/>
            <a:ext cx="2139696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202124"/>
                </a:solidFill>
              </a:rPr>
              <a:t>Traditions/Recipes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596896" y="2926080"/>
            <a:ext cx="1858060" cy="320040"/>
          </a:xfrm>
          <a:prstGeom prst="rect">
            <a:avLst/>
          </a:prstGeom>
          <a:solidFill>
            <a:srgbClr val="FFFCF5"/>
          </a:solidFill>
          <a:ln w="12700">
            <a:solidFill>
              <a:srgbClr val="DC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688336" y="2953512"/>
            <a:ext cx="1675180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202124"/>
                </a:solidFill>
              </a:rPr>
              <a:t>❌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454956" y="2926080"/>
            <a:ext cx="1858060" cy="320040"/>
          </a:xfrm>
          <a:prstGeom prst="rect">
            <a:avLst/>
          </a:prstGeom>
          <a:solidFill>
            <a:srgbClr val="FFFCF5"/>
          </a:solidFill>
          <a:ln w="12700">
            <a:solidFill>
              <a:srgbClr val="DC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546396" y="2953512"/>
            <a:ext cx="1675180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202124"/>
                </a:solidFill>
              </a:rPr>
              <a:t>❌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313017" y="2926080"/>
            <a:ext cx="1858060" cy="320040"/>
          </a:xfrm>
          <a:prstGeom prst="rect">
            <a:avLst/>
          </a:prstGeom>
          <a:solidFill>
            <a:srgbClr val="FFFCF5"/>
          </a:solidFill>
          <a:ln w="12700">
            <a:solidFill>
              <a:srgbClr val="DC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404457" y="2953512"/>
            <a:ext cx="1675180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202124"/>
                </a:solidFill>
              </a:rPr>
              <a:t>❌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171078" y="2926080"/>
            <a:ext cx="1858060" cy="320040"/>
          </a:xfrm>
          <a:prstGeom prst="rect">
            <a:avLst/>
          </a:prstGeom>
          <a:solidFill>
            <a:srgbClr val="FFFCF5"/>
          </a:solidFill>
          <a:ln w="12700">
            <a:solidFill>
              <a:srgbClr val="DC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262518" y="2953512"/>
            <a:ext cx="1675180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202124"/>
                </a:solidFill>
              </a:rPr>
              <a:t>❌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0029139" y="2926080"/>
            <a:ext cx="1858060" cy="320040"/>
          </a:xfrm>
          <a:prstGeom prst="rect">
            <a:avLst/>
          </a:prstGeom>
          <a:solidFill>
            <a:srgbClr val="FFFCF5"/>
          </a:solidFill>
          <a:ln w="12700">
            <a:solidFill>
              <a:srgbClr val="DC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0120579" y="2953512"/>
            <a:ext cx="1675180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202124"/>
                </a:solidFill>
              </a:rPr>
              <a:t>✅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74320" y="3246120"/>
            <a:ext cx="2322576" cy="320040"/>
          </a:xfrm>
          <a:prstGeom prst="rect">
            <a:avLst/>
          </a:prstGeom>
          <a:solidFill>
            <a:srgbClr val="F9F6EE"/>
          </a:solidFill>
          <a:ln w="12700">
            <a:solidFill>
              <a:srgbClr val="DC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365760" y="3273552"/>
            <a:ext cx="2139696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202124"/>
                </a:solidFill>
              </a:rPr>
              <a:t>Time-Locked Messages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596896" y="3246120"/>
            <a:ext cx="1858060" cy="320040"/>
          </a:xfrm>
          <a:prstGeom prst="rect">
            <a:avLst/>
          </a:prstGeom>
          <a:solidFill>
            <a:srgbClr val="F9F6EE"/>
          </a:solidFill>
          <a:ln w="12700">
            <a:solidFill>
              <a:srgbClr val="DC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688336" y="3273552"/>
            <a:ext cx="1675180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202124"/>
                </a:solidFill>
              </a:rPr>
              <a:t>❌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454956" y="3246120"/>
            <a:ext cx="1858060" cy="320040"/>
          </a:xfrm>
          <a:prstGeom prst="rect">
            <a:avLst/>
          </a:prstGeom>
          <a:solidFill>
            <a:srgbClr val="F9F6EE"/>
          </a:solidFill>
          <a:ln w="12700">
            <a:solidFill>
              <a:srgbClr val="DC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546396" y="3273552"/>
            <a:ext cx="1675180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202124"/>
                </a:solidFill>
              </a:rPr>
              <a:t>❌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13017" y="3246120"/>
            <a:ext cx="1858060" cy="320040"/>
          </a:xfrm>
          <a:prstGeom prst="rect">
            <a:avLst/>
          </a:prstGeom>
          <a:solidFill>
            <a:srgbClr val="F9F6EE"/>
          </a:solidFill>
          <a:ln w="12700">
            <a:solidFill>
              <a:srgbClr val="DC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404457" y="3273552"/>
            <a:ext cx="1675180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202124"/>
                </a:solidFill>
              </a:rPr>
              <a:t>❌</a:t>
            </a:r>
          </a:p>
        </p:txBody>
      </p:sp>
      <p:sp>
        <p:nvSpPr>
          <p:cNvPr id="85" name="Rectangle 84"/>
          <p:cNvSpPr/>
          <p:nvPr/>
        </p:nvSpPr>
        <p:spPr>
          <a:xfrm>
            <a:off x="8171078" y="3246120"/>
            <a:ext cx="1858060" cy="320040"/>
          </a:xfrm>
          <a:prstGeom prst="rect">
            <a:avLst/>
          </a:prstGeom>
          <a:solidFill>
            <a:srgbClr val="F9F6EE"/>
          </a:solidFill>
          <a:ln w="12700">
            <a:solidFill>
              <a:srgbClr val="DC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262518" y="3273552"/>
            <a:ext cx="1675180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202124"/>
                </a:solidFill>
              </a:rPr>
              <a:t>❌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0029139" y="3246120"/>
            <a:ext cx="1858060" cy="320040"/>
          </a:xfrm>
          <a:prstGeom prst="rect">
            <a:avLst/>
          </a:prstGeom>
          <a:solidFill>
            <a:srgbClr val="F9F6EE"/>
          </a:solidFill>
          <a:ln w="12700">
            <a:solidFill>
              <a:srgbClr val="DC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10120579" y="3273552"/>
            <a:ext cx="1675180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202124"/>
                </a:solidFill>
              </a:rPr>
              <a:t>✅ (4 triggers)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74320" y="3566159"/>
            <a:ext cx="2322576" cy="320040"/>
          </a:xfrm>
          <a:prstGeom prst="rect">
            <a:avLst/>
          </a:prstGeom>
          <a:solidFill>
            <a:srgbClr val="FFFCF5"/>
          </a:solidFill>
          <a:ln w="12700">
            <a:solidFill>
              <a:srgbClr val="DC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365760" y="3593591"/>
            <a:ext cx="2139696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202124"/>
                </a:solidFill>
              </a:rPr>
              <a:t>AI Features</a:t>
            </a:r>
          </a:p>
        </p:txBody>
      </p:sp>
      <p:sp>
        <p:nvSpPr>
          <p:cNvPr id="91" name="Rectangle 90"/>
          <p:cNvSpPr/>
          <p:nvPr/>
        </p:nvSpPr>
        <p:spPr>
          <a:xfrm>
            <a:off x="2596896" y="3566159"/>
            <a:ext cx="1858060" cy="320040"/>
          </a:xfrm>
          <a:prstGeom prst="rect">
            <a:avLst/>
          </a:prstGeom>
          <a:solidFill>
            <a:srgbClr val="FFFCF5"/>
          </a:solidFill>
          <a:ln w="12700">
            <a:solidFill>
              <a:srgbClr val="DC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2688336" y="3593591"/>
            <a:ext cx="1675180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202124"/>
                </a:solidFill>
              </a:rPr>
              <a:t>DNA matching</a:t>
            </a:r>
          </a:p>
        </p:txBody>
      </p:sp>
      <p:sp>
        <p:nvSpPr>
          <p:cNvPr id="93" name="Rectangle 92"/>
          <p:cNvSpPr/>
          <p:nvPr/>
        </p:nvSpPr>
        <p:spPr>
          <a:xfrm>
            <a:off x="4454956" y="3566159"/>
            <a:ext cx="1858060" cy="320040"/>
          </a:xfrm>
          <a:prstGeom prst="rect">
            <a:avLst/>
          </a:prstGeom>
          <a:solidFill>
            <a:srgbClr val="FFFCF5"/>
          </a:solidFill>
          <a:ln w="12700">
            <a:solidFill>
              <a:srgbClr val="DC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4546396" y="3593591"/>
            <a:ext cx="1675180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202124"/>
                </a:solidFill>
              </a:rPr>
              <a:t>Photo enhance</a:t>
            </a:r>
          </a:p>
        </p:txBody>
      </p:sp>
      <p:sp>
        <p:nvSpPr>
          <p:cNvPr id="95" name="Rectangle 94"/>
          <p:cNvSpPr/>
          <p:nvPr/>
        </p:nvSpPr>
        <p:spPr>
          <a:xfrm>
            <a:off x="6313017" y="3566159"/>
            <a:ext cx="1858060" cy="320040"/>
          </a:xfrm>
          <a:prstGeom prst="rect">
            <a:avLst/>
          </a:prstGeom>
          <a:solidFill>
            <a:srgbClr val="FFFCF5"/>
          </a:solidFill>
          <a:ln w="12700">
            <a:solidFill>
              <a:srgbClr val="DC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404457" y="3593591"/>
            <a:ext cx="1675180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202124"/>
                </a:solidFill>
              </a:rPr>
              <a:t>❌</a:t>
            </a:r>
          </a:p>
        </p:txBody>
      </p:sp>
      <p:sp>
        <p:nvSpPr>
          <p:cNvPr id="97" name="Rectangle 96"/>
          <p:cNvSpPr/>
          <p:nvPr/>
        </p:nvSpPr>
        <p:spPr>
          <a:xfrm>
            <a:off x="8171078" y="3566159"/>
            <a:ext cx="1858060" cy="320040"/>
          </a:xfrm>
          <a:prstGeom prst="rect">
            <a:avLst/>
          </a:prstGeom>
          <a:solidFill>
            <a:srgbClr val="FFFCF5"/>
          </a:solidFill>
          <a:ln w="12700">
            <a:solidFill>
              <a:srgbClr val="DC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8262518" y="3593591"/>
            <a:ext cx="1675180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202124"/>
                </a:solidFill>
              </a:rPr>
              <a:t>❌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0029139" y="3566159"/>
            <a:ext cx="1858060" cy="320040"/>
          </a:xfrm>
          <a:prstGeom prst="rect">
            <a:avLst/>
          </a:prstGeom>
          <a:solidFill>
            <a:srgbClr val="FFFCF5"/>
          </a:solidFill>
          <a:ln w="12700">
            <a:solidFill>
              <a:srgbClr val="DC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10120579" y="3593591"/>
            <a:ext cx="1675180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202124"/>
                </a:solidFill>
              </a:rPr>
              <a:t>✅ (5 AI tools)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274320" y="3886200"/>
            <a:ext cx="2322576" cy="320040"/>
          </a:xfrm>
          <a:prstGeom prst="rect">
            <a:avLst/>
          </a:prstGeom>
          <a:solidFill>
            <a:srgbClr val="F9F6EE"/>
          </a:solidFill>
          <a:ln w="12700">
            <a:solidFill>
              <a:srgbClr val="DC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365760" y="3913632"/>
            <a:ext cx="2139696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202124"/>
                </a:solidFill>
              </a:rPr>
              <a:t>Offline-First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2596896" y="3886200"/>
            <a:ext cx="1858060" cy="320040"/>
          </a:xfrm>
          <a:prstGeom prst="rect">
            <a:avLst/>
          </a:prstGeom>
          <a:solidFill>
            <a:srgbClr val="F9F6EE"/>
          </a:solidFill>
          <a:ln w="12700">
            <a:solidFill>
              <a:srgbClr val="DC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2688336" y="3913632"/>
            <a:ext cx="1675180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202124"/>
                </a:solidFill>
              </a:rPr>
              <a:t>❌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4454956" y="3886200"/>
            <a:ext cx="1858060" cy="320040"/>
          </a:xfrm>
          <a:prstGeom prst="rect">
            <a:avLst/>
          </a:prstGeom>
          <a:solidFill>
            <a:srgbClr val="F9F6EE"/>
          </a:solidFill>
          <a:ln w="12700">
            <a:solidFill>
              <a:srgbClr val="DC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4546396" y="3913632"/>
            <a:ext cx="1675180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202124"/>
                </a:solidFill>
              </a:rPr>
              <a:t>❌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6313017" y="3886200"/>
            <a:ext cx="1858060" cy="320040"/>
          </a:xfrm>
          <a:prstGeom prst="rect">
            <a:avLst/>
          </a:prstGeom>
          <a:solidFill>
            <a:srgbClr val="F9F6EE"/>
          </a:solidFill>
          <a:ln w="12700">
            <a:solidFill>
              <a:srgbClr val="DC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6404457" y="3913632"/>
            <a:ext cx="1675180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202124"/>
                </a:solidFill>
              </a:rPr>
              <a:t>Partial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8171078" y="3886200"/>
            <a:ext cx="1858060" cy="320040"/>
          </a:xfrm>
          <a:prstGeom prst="rect">
            <a:avLst/>
          </a:prstGeom>
          <a:solidFill>
            <a:srgbClr val="F9F6EE"/>
          </a:solidFill>
          <a:ln w="12700">
            <a:solidFill>
              <a:srgbClr val="DC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8262518" y="3913632"/>
            <a:ext cx="1675180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202124"/>
                </a:solidFill>
              </a:rPr>
              <a:t>✅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10029139" y="3886200"/>
            <a:ext cx="1858060" cy="320040"/>
          </a:xfrm>
          <a:prstGeom prst="rect">
            <a:avLst/>
          </a:prstGeom>
          <a:solidFill>
            <a:srgbClr val="F9F6EE"/>
          </a:solidFill>
          <a:ln w="12700">
            <a:solidFill>
              <a:srgbClr val="DC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10120579" y="3913632"/>
            <a:ext cx="1675180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202124"/>
                </a:solidFill>
              </a:rPr>
              <a:t>✅ (sync queue)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274320" y="4206240"/>
            <a:ext cx="2322576" cy="320040"/>
          </a:xfrm>
          <a:prstGeom prst="rect">
            <a:avLst/>
          </a:prstGeom>
          <a:solidFill>
            <a:srgbClr val="FFFCF5"/>
          </a:solidFill>
          <a:ln w="12700">
            <a:solidFill>
              <a:srgbClr val="DC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365760" y="4233672"/>
            <a:ext cx="2139696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202124"/>
                </a:solidFill>
              </a:rPr>
              <a:t>Cultural Design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2596896" y="4206240"/>
            <a:ext cx="1858060" cy="320040"/>
          </a:xfrm>
          <a:prstGeom prst="rect">
            <a:avLst/>
          </a:prstGeom>
          <a:solidFill>
            <a:srgbClr val="FFFCF5"/>
          </a:solidFill>
          <a:ln w="12700">
            <a:solidFill>
              <a:srgbClr val="DC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2688336" y="4233672"/>
            <a:ext cx="1675180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202124"/>
                </a:solidFill>
              </a:rPr>
              <a:t>Western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4454956" y="4206240"/>
            <a:ext cx="1858060" cy="320040"/>
          </a:xfrm>
          <a:prstGeom prst="rect">
            <a:avLst/>
          </a:prstGeom>
          <a:solidFill>
            <a:srgbClr val="FFFCF5"/>
          </a:solidFill>
          <a:ln w="12700">
            <a:solidFill>
              <a:srgbClr val="DC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4546396" y="4233672"/>
            <a:ext cx="1675180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202124"/>
                </a:solidFill>
              </a:rPr>
              <a:t>Western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6313017" y="4206240"/>
            <a:ext cx="1858060" cy="320040"/>
          </a:xfrm>
          <a:prstGeom prst="rect">
            <a:avLst/>
          </a:prstGeom>
          <a:solidFill>
            <a:srgbClr val="FFFCF5"/>
          </a:solidFill>
          <a:ln w="12700">
            <a:solidFill>
              <a:srgbClr val="DC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6404457" y="4233672"/>
            <a:ext cx="1675180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202124"/>
                </a:solidFill>
              </a:rPr>
              <a:t>Western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8171078" y="4206240"/>
            <a:ext cx="1858060" cy="320040"/>
          </a:xfrm>
          <a:prstGeom prst="rect">
            <a:avLst/>
          </a:prstGeom>
          <a:solidFill>
            <a:srgbClr val="FFFCF5"/>
          </a:solidFill>
          <a:ln w="12700">
            <a:solidFill>
              <a:srgbClr val="DC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8262518" y="4233672"/>
            <a:ext cx="1675180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202124"/>
                </a:solidFill>
              </a:rPr>
              <a:t>Generic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10029139" y="4206240"/>
            <a:ext cx="1858060" cy="320040"/>
          </a:xfrm>
          <a:prstGeom prst="rect">
            <a:avLst/>
          </a:prstGeom>
          <a:solidFill>
            <a:srgbClr val="FFFCF5"/>
          </a:solidFill>
          <a:ln w="12700">
            <a:solidFill>
              <a:srgbClr val="DC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10120579" y="4233672"/>
            <a:ext cx="1675180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202124"/>
                </a:solidFill>
              </a:rPr>
              <a:t>Digital Sanskriti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274320" y="4526280"/>
            <a:ext cx="2322576" cy="320040"/>
          </a:xfrm>
          <a:prstGeom prst="rect">
            <a:avLst/>
          </a:prstGeom>
          <a:solidFill>
            <a:srgbClr val="F9F6EE"/>
          </a:solidFill>
          <a:ln w="12700">
            <a:solidFill>
              <a:srgbClr val="DC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365760" y="4553712"/>
            <a:ext cx="2139696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202124"/>
                </a:solidFill>
              </a:rPr>
              <a:t>Pricing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2596896" y="4526280"/>
            <a:ext cx="1858060" cy="320040"/>
          </a:xfrm>
          <a:prstGeom prst="rect">
            <a:avLst/>
          </a:prstGeom>
          <a:solidFill>
            <a:srgbClr val="F9F6EE"/>
          </a:solidFill>
          <a:ln w="12700">
            <a:solidFill>
              <a:srgbClr val="DC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2688336" y="4553712"/>
            <a:ext cx="1675180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202124"/>
                </a:solidFill>
              </a:rPr>
              <a:t>$200+/yr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4454956" y="4526280"/>
            <a:ext cx="1858060" cy="320040"/>
          </a:xfrm>
          <a:prstGeom prst="rect">
            <a:avLst/>
          </a:prstGeom>
          <a:solidFill>
            <a:srgbClr val="F9F6EE"/>
          </a:solidFill>
          <a:ln w="12700">
            <a:solidFill>
              <a:srgbClr val="DC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4546396" y="4553712"/>
            <a:ext cx="1675180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202124"/>
                </a:solidFill>
              </a:rPr>
              <a:t>$150+/yr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6313017" y="4526280"/>
            <a:ext cx="1858060" cy="320040"/>
          </a:xfrm>
          <a:prstGeom prst="rect">
            <a:avLst/>
          </a:prstGeom>
          <a:solidFill>
            <a:srgbClr val="F9F6EE"/>
          </a:solidFill>
          <a:ln w="12700">
            <a:solidFill>
              <a:srgbClr val="DC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6404457" y="4553712"/>
            <a:ext cx="1675180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202124"/>
                </a:solidFill>
              </a:rPr>
              <a:t>Free (limited)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8171078" y="4526280"/>
            <a:ext cx="1858060" cy="320040"/>
          </a:xfrm>
          <a:prstGeom prst="rect">
            <a:avLst/>
          </a:prstGeom>
          <a:solidFill>
            <a:srgbClr val="F9F6EE"/>
          </a:solidFill>
          <a:ln w="12700">
            <a:solidFill>
              <a:srgbClr val="DC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8262518" y="4553712"/>
            <a:ext cx="1675180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202124"/>
                </a:solidFill>
              </a:rPr>
              <a:t>Free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10029139" y="4526280"/>
            <a:ext cx="1858060" cy="320040"/>
          </a:xfrm>
          <a:prstGeom prst="rect">
            <a:avLst/>
          </a:prstGeom>
          <a:solidFill>
            <a:srgbClr val="F9F6EE"/>
          </a:solidFill>
          <a:ln w="12700">
            <a:solidFill>
              <a:srgbClr val="DC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10120579" y="4553712"/>
            <a:ext cx="1675180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202124"/>
                </a:solidFill>
              </a:rPr>
              <a:t>Freemium ₹199/mo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274320" y="4846320"/>
            <a:ext cx="2322576" cy="320040"/>
          </a:xfrm>
          <a:prstGeom prst="rect">
            <a:avLst/>
          </a:prstGeom>
          <a:solidFill>
            <a:srgbClr val="FFFCF5"/>
          </a:solidFill>
          <a:ln w="12700">
            <a:solidFill>
              <a:srgbClr val="DC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365760" y="4873752"/>
            <a:ext cx="2139696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202124"/>
                </a:solidFill>
              </a:rPr>
              <a:t>Mobile-First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2596896" y="4846320"/>
            <a:ext cx="1858060" cy="320040"/>
          </a:xfrm>
          <a:prstGeom prst="rect">
            <a:avLst/>
          </a:prstGeom>
          <a:solidFill>
            <a:srgbClr val="FFFCF5"/>
          </a:solidFill>
          <a:ln w="12700">
            <a:solidFill>
              <a:srgbClr val="DC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2688336" y="4873752"/>
            <a:ext cx="1675180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202124"/>
                </a:solidFill>
              </a:rPr>
              <a:t>❌ (web)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4454956" y="4846320"/>
            <a:ext cx="1858060" cy="320040"/>
          </a:xfrm>
          <a:prstGeom prst="rect">
            <a:avLst/>
          </a:prstGeom>
          <a:solidFill>
            <a:srgbClr val="FFFCF5"/>
          </a:solidFill>
          <a:ln w="12700">
            <a:solidFill>
              <a:srgbClr val="DC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4546396" y="4873752"/>
            <a:ext cx="1675180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202124"/>
                </a:solidFill>
              </a:rPr>
              <a:t>Partial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6313017" y="4846320"/>
            <a:ext cx="1858060" cy="320040"/>
          </a:xfrm>
          <a:prstGeom prst="rect">
            <a:avLst/>
          </a:prstGeom>
          <a:solidFill>
            <a:srgbClr val="FFFCF5"/>
          </a:solidFill>
          <a:ln w="12700">
            <a:solidFill>
              <a:srgbClr val="DC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6404457" y="4873752"/>
            <a:ext cx="1675180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202124"/>
                </a:solidFill>
              </a:rPr>
              <a:t>❌ (web)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8171078" y="4846320"/>
            <a:ext cx="1858060" cy="320040"/>
          </a:xfrm>
          <a:prstGeom prst="rect">
            <a:avLst/>
          </a:prstGeom>
          <a:solidFill>
            <a:srgbClr val="FFFCF5"/>
          </a:solidFill>
          <a:ln w="12700">
            <a:solidFill>
              <a:srgbClr val="DC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8262518" y="4873752"/>
            <a:ext cx="1675180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202124"/>
                </a:solidFill>
              </a:rPr>
              <a:t>✅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10029139" y="4846320"/>
            <a:ext cx="1858060" cy="320040"/>
          </a:xfrm>
          <a:prstGeom prst="rect">
            <a:avLst/>
          </a:prstGeom>
          <a:solidFill>
            <a:srgbClr val="FFFCF5"/>
          </a:solidFill>
          <a:ln w="12700">
            <a:solidFill>
              <a:srgbClr val="DC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10120579" y="4873752"/>
            <a:ext cx="1675180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202124"/>
                </a:solidFill>
              </a:rPr>
              <a:t>✅ (native)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10040112" y="1280160"/>
            <a:ext cx="1847088" cy="45720"/>
          </a:xfrm>
          <a:prstGeom prst="rect">
            <a:avLst/>
          </a:prstGeom>
          <a:solidFill>
            <a:srgbClr val="228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457200" y="548640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C4532A"/>
                </a:solidFill>
              </a:rPr>
              <a:t>Key Insight: No app combines family tree + voice stories + traditions + time-locked messages + AI — in an Indian cultural context.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E6B65"/>
                </a:solidFill>
              </a:rPr>
              <a:t>13/15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497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Business Model &amp; Revenue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Freemium with cultural value lock-in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3566160" cy="3657600"/>
          </a:xfrm>
          <a:prstGeom prst="roundRect">
            <a:avLst/>
          </a:prstGeom>
          <a:solidFill>
            <a:srgbClr val="FFFCF5"/>
          </a:solidFill>
          <a:ln w="12700">
            <a:solidFill>
              <a:srgbClr val="EBE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3566160" cy="777240"/>
          </a:xfrm>
          <a:prstGeom prst="roundRect">
            <a:avLst/>
          </a:prstGeom>
          <a:solidFill>
            <a:srgbClr val="6E6B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Free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3736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₹0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86000"/>
            <a:ext cx="3017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02124"/>
                </a:solidFill>
              </a:defRPr>
            </a:pPr>
            <a:r>
              <a:t>✓  1 family</a:t>
            </a:r>
          </a:p>
          <a:p>
            <a:pPr>
              <a:spcAft>
                <a:spcPts val="600"/>
              </a:spcAft>
              <a:defRPr sz="1300">
                <a:solidFill>
                  <a:srgbClr val="202124"/>
                </a:solidFill>
              </a:defRPr>
            </a:pPr>
            <a:r>
              <a:t>✓  50 memories</a:t>
            </a:r>
          </a:p>
          <a:p>
            <a:pPr>
              <a:spcAft>
                <a:spcPts val="600"/>
              </a:spcAft>
              <a:defRPr sz="1300">
                <a:solidFill>
                  <a:srgbClr val="202124"/>
                </a:solidFill>
              </a:defRPr>
            </a:pPr>
            <a:r>
              <a:t>✓  10 kathas</a:t>
            </a:r>
          </a:p>
          <a:p>
            <a:pPr>
              <a:spcAft>
                <a:spcPts val="600"/>
              </a:spcAft>
              <a:defRPr sz="1300">
                <a:solidFill>
                  <a:srgbClr val="202124"/>
                </a:solidFill>
              </a:defRPr>
            </a:pPr>
            <a:r>
              <a:t>✓  Basic tree</a:t>
            </a:r>
          </a:p>
          <a:p>
            <a:pPr>
              <a:spcAft>
                <a:spcPts val="600"/>
              </a:spcAft>
              <a:defRPr sz="1300">
                <a:solidFill>
                  <a:srgbClr val="202124"/>
                </a:solidFill>
              </a:defRPr>
            </a:pPr>
            <a:r>
              <a:t>✓  Offline mode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71600"/>
            <a:ext cx="3566160" cy="3657600"/>
          </a:xfrm>
          <a:prstGeom prst="roundRect">
            <a:avLst/>
          </a:prstGeom>
          <a:solidFill>
            <a:srgbClr val="FFFCF5"/>
          </a:solidFill>
          <a:ln w="12700">
            <a:solidFill>
              <a:srgbClr val="EBE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89120" y="1371600"/>
            <a:ext cx="3566160" cy="777240"/>
          </a:xfrm>
          <a:prstGeom prst="roundRect">
            <a:avLst/>
          </a:prstGeom>
          <a:solidFill>
            <a:srgbClr val="8C6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41732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Legacy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173736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₹199/mo (~$2.50)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286000"/>
            <a:ext cx="3017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02124"/>
                </a:solidFill>
              </a:defRPr>
            </a:pPr>
            <a:r>
              <a:t>✓  Unlimited memories</a:t>
            </a:r>
          </a:p>
          <a:p>
            <a:pPr>
              <a:spcAft>
                <a:spcPts val="600"/>
              </a:spcAft>
              <a:defRPr sz="1300">
                <a:solidFill>
                  <a:srgbClr val="202124"/>
                </a:solidFill>
              </a:defRPr>
            </a:pPr>
            <a:r>
              <a:t>✓  AI features</a:t>
            </a:r>
          </a:p>
          <a:p>
            <a:pPr>
              <a:spcAft>
                <a:spcPts val="600"/>
              </a:spcAft>
              <a:defRPr sz="1300">
                <a:solidFill>
                  <a:srgbClr val="202124"/>
                </a:solidFill>
              </a:defRPr>
            </a:pPr>
            <a:r>
              <a:t>✓  5GB storage</a:t>
            </a:r>
          </a:p>
          <a:p>
            <a:pPr>
              <a:spcAft>
                <a:spcPts val="600"/>
              </a:spcAft>
              <a:defRPr sz="1300">
                <a:solidFill>
                  <a:srgbClr val="202124"/>
                </a:solidFill>
              </a:defRPr>
            </a:pPr>
            <a:r>
              <a:t>✓  Firebase sync</a:t>
            </a:r>
          </a:p>
          <a:p>
            <a:pPr>
              <a:spcAft>
                <a:spcPts val="600"/>
              </a:spcAft>
              <a:defRPr sz="1300">
                <a:solidFill>
                  <a:srgbClr val="202124"/>
                </a:solidFill>
              </a:defRPr>
            </a:pPr>
            <a:r>
              <a:t>✓  Priority support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1371600"/>
            <a:ext cx="3566160" cy="3657600"/>
          </a:xfrm>
          <a:prstGeom prst="roundRect">
            <a:avLst/>
          </a:prstGeom>
          <a:solidFill>
            <a:srgbClr val="FFFCF5"/>
          </a:solidFill>
          <a:ln w="12700">
            <a:solidFill>
              <a:srgbClr val="EBE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321040" y="1371600"/>
            <a:ext cx="3566160" cy="777240"/>
          </a:xfrm>
          <a:prstGeom prst="roundRect">
            <a:avLst/>
          </a:prstGeom>
          <a:solidFill>
            <a:srgbClr val="228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0" y="141732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Heritage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173736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₹499/mo (~$6)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2286000"/>
            <a:ext cx="3017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02124"/>
                </a:solidFill>
              </a:defRPr>
            </a:pPr>
            <a:r>
              <a:t>✓  Multiple families</a:t>
            </a:r>
          </a:p>
          <a:p>
            <a:pPr>
              <a:spcAft>
                <a:spcPts val="600"/>
              </a:spcAft>
              <a:defRPr sz="1300">
                <a:solidFill>
                  <a:srgbClr val="202124"/>
                </a:solidFill>
              </a:defRPr>
            </a:pPr>
            <a:r>
              <a:t>✓  Digital Echo AI</a:t>
            </a:r>
          </a:p>
          <a:p>
            <a:pPr>
              <a:spcAft>
                <a:spcPts val="600"/>
              </a:spcAft>
              <a:defRPr sz="1300">
                <a:solidFill>
                  <a:srgbClr val="202124"/>
                </a:solidFill>
              </a:defRPr>
            </a:pPr>
            <a:r>
              <a:t>✓  50GB storage</a:t>
            </a:r>
          </a:p>
          <a:p>
            <a:pPr>
              <a:spcAft>
                <a:spcPts val="600"/>
              </a:spcAft>
              <a:defRPr sz="1300">
                <a:solidFill>
                  <a:srgbClr val="202124"/>
                </a:solidFill>
              </a:defRPr>
            </a:pPr>
            <a:r>
              <a:t>✓  Advanced analytics</a:t>
            </a:r>
          </a:p>
          <a:p>
            <a:pPr>
              <a:spcAft>
                <a:spcPts val="600"/>
              </a:spcAft>
              <a:defRPr sz="1300">
                <a:solidFill>
                  <a:srgbClr val="202124"/>
                </a:solidFill>
              </a:defRPr>
            </a:pPr>
            <a:r>
              <a:t>✓  Custom themes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5212080"/>
            <a:ext cx="11247120" cy="1371600"/>
          </a:xfrm>
          <a:prstGeom prst="roundRect">
            <a:avLst/>
          </a:prstGeom>
          <a:solidFill>
            <a:srgbClr val="FFFCF5"/>
          </a:solidFill>
          <a:ln w="12700">
            <a:solidFill>
              <a:srgbClr val="EBE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30352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8C681A"/>
                </a:solidFill>
              </a:rPr>
              <a:t>Key Metrics to Track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669280"/>
            <a:ext cx="1737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02124"/>
                </a:solidFill>
              </a:rPr>
              <a:t>Families Created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897880"/>
            <a:ext cx="1737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6B65"/>
                </a:solidFill>
              </a:rPr>
              <a:t>North Star metric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14600" y="5669280"/>
            <a:ext cx="1737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02124"/>
                </a:solidFill>
              </a:rPr>
              <a:t>Members/Family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14600" y="5897880"/>
            <a:ext cx="1737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6B65"/>
                </a:solidFill>
              </a:rPr>
              <a:t>Virality indicator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5669280"/>
            <a:ext cx="1737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02124"/>
                </a:solidFill>
              </a:rPr>
              <a:t>Content Uploads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5897880"/>
            <a:ext cx="1737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6B65"/>
                </a:solidFill>
              </a:rPr>
              <a:t>Engagement depth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5669280"/>
            <a:ext cx="1737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02124"/>
                </a:solidFill>
              </a:rPr>
              <a:t>DAU/MAU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5897880"/>
            <a:ext cx="1737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6B65"/>
                </a:solidFill>
              </a:rPr>
              <a:t>Stickiness ratio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59" y="5669280"/>
            <a:ext cx="1737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02124"/>
                </a:solidFill>
              </a:rPr>
              <a:t>Vasiyats Created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8159" y="5897880"/>
            <a:ext cx="1737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6B65"/>
                </a:solidFill>
              </a:rPr>
              <a:t>Emotional lock-in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12680" y="5669280"/>
            <a:ext cx="1737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02124"/>
                </a:solidFill>
              </a:rPr>
              <a:t>Share Events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12680" y="5897880"/>
            <a:ext cx="1737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6B65"/>
                </a:solidFill>
              </a:rPr>
              <a:t>Growth loop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E6B65"/>
                </a:solidFill>
              </a:rPr>
              <a:t>14/15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8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497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914400"/>
            <a:ext cx="9601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0" b="0">
                <a:solidFill>
                  <a:srgbClr val="C49734"/>
                </a:solidFill>
              </a:rPr>
              <a:t>🪷</a:t>
            </a:r>
          </a:p>
          <a:p>
            <a:pPr algn="ctr"/>
            <a:r>
              <a:rPr sz="1000" b="0">
                <a:solidFill>
                  <a:srgbClr val="FFFFFF"/>
                </a:solidFill>
              </a:rPr>
              <a:t/>
            </a:r>
          </a:p>
          <a:p>
            <a:pPr algn="ctr"/>
            <a:r>
              <a:rPr sz="3200" b="1">
                <a:solidFill>
                  <a:srgbClr val="FFFFFF"/>
                </a:solidFill>
              </a:rPr>
              <a:t>Vansh — Every Family Has a Story Worth Preserving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926080"/>
            <a:ext cx="5029200" cy="2743200"/>
          </a:xfrm>
          <a:prstGeom prst="roundRect">
            <a:avLst/>
          </a:prstGeom>
          <a:solidFill>
            <a:srgbClr val="3735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3017520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28B5E"/>
                </a:solidFill>
              </a:rPr>
              <a:t>✅  What's Built (POC)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474720"/>
            <a:ext cx="46634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C8C3B9"/>
                </a:solidFill>
              </a:defRPr>
            </a:pPr>
            <a:r>
              <a:t>Full working mobile app (iOS/Android/Web)</a:t>
            </a:r>
          </a:p>
          <a:p>
            <a:pPr>
              <a:spcAft>
                <a:spcPts val="300"/>
              </a:spcAft>
              <a:defRPr sz="1200">
                <a:solidFill>
                  <a:srgbClr val="C8C3B9"/>
                </a:solidFill>
              </a:defRPr>
            </a:pPr>
            <a:r>
              <a:t>Complete REST API with 30+ endpoints</a:t>
            </a:r>
          </a:p>
          <a:p>
            <a:pPr>
              <a:spcAft>
                <a:spcPts val="300"/>
              </a:spcAft>
              <a:defRPr sz="1200">
                <a:solidFill>
                  <a:srgbClr val="C8C3B9"/>
                </a:solidFill>
              </a:defRPr>
            </a:pPr>
            <a:r>
              <a:t>Interactive family tree with custom algorithm</a:t>
            </a:r>
          </a:p>
          <a:p>
            <a:pPr>
              <a:spcAft>
                <a:spcPts val="300"/>
              </a:spcAft>
              <a:defRPr sz="1200">
                <a:solidFill>
                  <a:srgbClr val="C8C3B9"/>
                </a:solidFill>
              </a:defRPr>
            </a:pPr>
            <a:r>
              <a:t>Voice stories + photo memories + traditions</a:t>
            </a:r>
          </a:p>
          <a:p>
            <a:pPr>
              <a:spcAft>
                <a:spcPts val="300"/>
              </a:spcAft>
              <a:defRPr sz="1200">
                <a:solidFill>
                  <a:srgbClr val="C8C3B9"/>
                </a:solidFill>
              </a:defRPr>
            </a:pPr>
            <a:r>
              <a:t>Time-locked wisdom vault with encryption</a:t>
            </a:r>
          </a:p>
          <a:p>
            <a:pPr>
              <a:spcAft>
                <a:spcPts val="300"/>
              </a:spcAft>
              <a:defRPr sz="1200">
                <a:solidFill>
                  <a:srgbClr val="C8C3B9"/>
                </a:solidFill>
              </a:defRPr>
            </a:pPr>
            <a:r>
              <a:t>AI image analysis &amp; era detection</a:t>
            </a:r>
          </a:p>
          <a:p>
            <a:pPr>
              <a:spcAft>
                <a:spcPts val="300"/>
              </a:spcAft>
              <a:defRPr sz="1200">
                <a:solidFill>
                  <a:srgbClr val="C8C3B9"/>
                </a:solidFill>
              </a:defRPr>
            </a:pPr>
            <a:r>
              <a:t>Offline-first with sync queue</a:t>
            </a:r>
          </a:p>
          <a:p>
            <a:pPr>
              <a:spcAft>
                <a:spcPts val="300"/>
              </a:spcAft>
              <a:defRPr sz="1200">
                <a:solidFill>
                  <a:srgbClr val="C8C3B9"/>
                </a:solidFill>
              </a:defRPr>
            </a:pPr>
            <a:r>
              <a:t>Indian kinship system (40+ terms)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926080"/>
            <a:ext cx="5029200" cy="2743200"/>
          </a:xfrm>
          <a:prstGeom prst="roundRect">
            <a:avLst/>
          </a:prstGeom>
          <a:solidFill>
            <a:srgbClr val="3735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3017520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C49734"/>
                </a:solidFill>
              </a:rPr>
              <a:t>🚀  Next Steps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3474720"/>
            <a:ext cx="46634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C8C3B9"/>
                </a:solidFill>
              </a:defRPr>
            </a:pPr>
            <a:r>
              <a:t>Deploy to cloud (AWS/GCP)</a:t>
            </a:r>
          </a:p>
          <a:p>
            <a:pPr>
              <a:spcAft>
                <a:spcPts val="300"/>
              </a:spcAft>
              <a:defRPr sz="1200">
                <a:solidFill>
                  <a:srgbClr val="C8C3B9"/>
                </a:solidFill>
              </a:defRPr>
            </a:pPr>
            <a:r>
              <a:t>App Store + Play Store submission</a:t>
            </a:r>
          </a:p>
          <a:p>
            <a:pPr>
              <a:spcAft>
                <a:spcPts val="300"/>
              </a:spcAft>
              <a:defRPr sz="1200">
                <a:solidFill>
                  <a:srgbClr val="C8C3B9"/>
                </a:solidFill>
              </a:defRPr>
            </a:pPr>
            <a:r>
              <a:t>Digital Echo AI persona launch</a:t>
            </a:r>
          </a:p>
          <a:p>
            <a:pPr>
              <a:spcAft>
                <a:spcPts val="300"/>
              </a:spcAft>
              <a:defRPr sz="1200">
                <a:solidFill>
                  <a:srgbClr val="C8C3B9"/>
                </a:solidFill>
              </a:defRPr>
            </a:pPr>
            <a:r>
              <a:t>DNA integration partnership</a:t>
            </a:r>
          </a:p>
          <a:p>
            <a:pPr>
              <a:spcAft>
                <a:spcPts val="300"/>
              </a:spcAft>
              <a:defRPr sz="1200">
                <a:solidFill>
                  <a:srgbClr val="C8C3B9"/>
                </a:solidFill>
              </a:defRPr>
            </a:pPr>
            <a:r>
              <a:t>Beta with 50 families</a:t>
            </a:r>
          </a:p>
          <a:p>
            <a:pPr>
              <a:spcAft>
                <a:spcPts val="300"/>
              </a:spcAft>
              <a:defRPr sz="1200">
                <a:solidFill>
                  <a:srgbClr val="C8C3B9"/>
                </a:solidFill>
              </a:defRPr>
            </a:pPr>
            <a:r>
              <a:t>Iterative UX improvements</a:t>
            </a:r>
          </a:p>
          <a:p>
            <a:pPr>
              <a:spcAft>
                <a:spcPts val="300"/>
              </a:spcAft>
              <a:defRPr sz="1200">
                <a:solidFill>
                  <a:srgbClr val="C8C3B9"/>
                </a:solidFill>
              </a:defRPr>
            </a:pPr>
            <a:r>
              <a:t>Marketing: heritage influencers</a:t>
            </a:r>
          </a:p>
          <a:p>
            <a:pPr>
              <a:spcAft>
                <a:spcPts val="300"/>
              </a:spcAft>
              <a:defRPr sz="1200">
                <a:solidFill>
                  <a:srgbClr val="C8C3B9"/>
                </a:solidFill>
              </a:defRPr>
            </a:pPr>
            <a:r>
              <a:t>Monetization: launch freemium tiers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8C6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6291072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Thank You  •  Questions?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6291072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>
                <a:solidFill>
                  <a:srgbClr val="FFFFFF"/>
                </a:solidFill>
              </a:rPr>
              <a:t>vansh-app  •  MIT License  •  Feb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E6B65"/>
                </a:solidFill>
              </a:rPr>
              <a:t>15/15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